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868680"/>
            <a:ext cx="9997135" cy="5120640"/>
          </a:xfrm>
          <a:prstGeom prst="roundRect">
            <a:avLst/>
          </a:prstGeom>
          <a:solidFill>
            <a:srgbClr val="EEF5F8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143000"/>
            <a:ext cx="9235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47483"/>
                </a:solidFill>
                <a:latin typeface="Calibri"/>
              </a:defRPr>
            </a:pPr>
            <a:r>
              <a:t>CSE355 · DATA VISUALIZATION CASE STUDY</a:t>
            </a:r>
          </a:p>
          <a:p>
            <a:pPr>
              <a:defRPr sz="3200" b="1">
                <a:solidFill>
                  <a:srgbClr val="18334F"/>
                </a:solidFill>
                <a:latin typeface="Calibri"/>
              </a:defRPr>
            </a:pPr>
            <a:r>
              <a:t>Global Marine Microplastic Pollution</a:t>
            </a:r>
          </a:p>
          <a:p>
            <a:pPr>
              <a:spcAft>
                <a:spcPts val="2400"/>
              </a:spcAft>
              <a:defRPr sz="1700">
                <a:solidFill>
                  <a:srgbClr val="147483"/>
                </a:solidFill>
                <a:latin typeface="Calibri"/>
              </a:defRPr>
            </a:pPr>
            <a:r>
              <a:t>An Ethical, Bias-Aware Visualization Framework for Hotspot Detection</a:t>
            </a:r>
          </a:p>
          <a:p>
            <a:pPr>
              <a:spcAft>
                <a:spcPts val="600"/>
              </a:spcAft>
              <a:defRPr sz="1200" b="1">
                <a:solidFill>
                  <a:srgbClr val="18334F"/>
                </a:solidFill>
                <a:latin typeface="Calibri"/>
              </a:defRPr>
            </a:pPr>
            <a:r>
              <a:t>Student Author &amp; Submission Information: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Student Name: K. Ganesh Giridhar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Register Number: CB.SC.U4CSE24519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Course &amp; Department: CSE355 – Data Visualization &amp; Analytics | Dept. of Computer Science &amp; Engineering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Institution: School of Computing, Amrita Vishwa Vidyapeetham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Dataset Used: NOAA NCEI Global Marine Microplastics Database (29,076 records, 1972–2026)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217920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PHASE 1 &amp; FINAL EVALUATION REVIEW  ·  AMRITA VISHWA VIDYAPEETHAM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1 · 5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Problem Statement and Analytical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3383280" cy="512064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52728"/>
            <a:ext cx="31089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47483"/>
                </a:solidFill>
                <a:latin typeface="Calibri"/>
              </a:defRPr>
            </a:pPr>
            <a:r>
              <a:t>PROBLEM CONTEXT</a:t>
            </a:r>
          </a:p>
          <a:p>
            <a:pPr>
              <a:spcAft>
                <a:spcPts val="1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&gt;11 million metric tonnes of plastics enter global oceans every year, breaking into microplastics (&lt;5 mm).</a:t>
            </a:r>
            <a:br/>
            <a:r>
              <a:t>• Particles adsorb toxic pollutants and contaminate marine food webs.</a:t>
            </a:r>
            <a:br/>
            <a:r>
              <a:t>• Critical Issue: Data is collected across 4 different settings with 3 incompatible measurement units.</a:t>
            </a:r>
          </a:p>
          <a:p>
            <a:pPr>
              <a:spcAft>
                <a:spcPts val="400"/>
              </a:spcAft>
              <a:defRPr sz="1150" b="1">
                <a:solidFill>
                  <a:srgbClr val="18334F"/>
                </a:solidFill>
                <a:latin typeface="Calibri"/>
              </a:defRPr>
            </a:pPr>
            <a:r>
              <a:t>PROBLEM STATEMENT</a:t>
            </a:r>
          </a:p>
          <a:p>
            <a:pPr>
              <a:defRPr sz="1000" i="1">
                <a:solidFill>
                  <a:srgbClr val="1E293B"/>
                </a:solidFill>
                <a:latin typeface="Calibri"/>
              </a:defRPr>
            </a:pPr>
            <a:r>
              <a:t>"How can 29,000+ global microplastic records across 4 marine settings and 3 incompatible units be visualized without confusing research effort with true pollution hotspots?"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43000"/>
            <a:ext cx="3383280" cy="512064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252728"/>
            <a:ext cx="31089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47483"/>
                </a:solidFill>
                <a:latin typeface="Calibri"/>
              </a:defRPr>
            </a:pPr>
            <a:r>
              <a:t>ANALYTICAL OBJECTIVES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O1. Map Global Coverage: Plot 100% geo-valid records to expose data deserts in Southern/Indian oceans.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O2. Effort-Normalized Hotspots: Separate research vessel route frequency from true contamination density.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O3. Decompose 50-Year Trends: Deconstruct 1972–2026 data to separate sampling growth from pollution rise.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O4. Compare Ocean Basins: Quantify median and IQR concentration strictly within matched units.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O5. Assess Mesh Aperture Bias: Measure the 4x detection gap between fine filters (&lt;100 um) and standard nets (333 um).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43000"/>
            <a:ext cx="3383280" cy="512064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252728"/>
            <a:ext cx="31089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47483"/>
                </a:solidFill>
                <a:latin typeface="Calibri"/>
              </a:defRPr>
            </a:pPr>
            <a:r>
              <a:t>WHY THIS MATTERS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Stop Wasting Resources:</a:t>
            </a:r>
            <a:br/>
            <a:r>
              <a:t>Prevents deploying cleanup operations to heavily surveyed coasts while severe pelagic gyre accumulation zones remain ignored.</a:t>
            </a:r>
            <a:br/>
            <a:br/>
            <a:r>
              <a:t>• Ethical Data Communication:</a:t>
            </a:r>
            <a:br/>
            <a:r>
              <a:t>Shows how chart manipulation (truncated axes, mixing units) creates false alarms and misinforms the public.</a:t>
            </a:r>
            <a:br/>
            <a:br/>
            <a:r>
              <a:t>• Policy Support:</a:t>
            </a:r>
            <a:br/>
            <a:r>
              <a:t>Provides sound empirical evidence for the UN Global Plastics Treaty (INC-5) and IMO plastic pellet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1 · 5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Dataset Description and Structural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0698480" cy="3566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10332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18334F"/>
                </a:solidFill>
                <a:latin typeface="Calibri"/>
              </a:defRPr>
            </a:pPr>
            <a:r>
              <a:t>DATASET SOURCE: </a:t>
            </a:r>
            <a:r>
              <a:rPr b="0">
                <a:solidFill>
                  <a:srgbClr val="1E293B"/>
                </a:solidFill>
              </a:rPr>
              <a:t>NOAA National Centers for Environmental Information (NCEI) Global Marine Microplastics Database (Parent Collection DOI: 10.25921/d1bs-3m40; Nurdle Patrol Accession: 0259486).</a:t>
            </a:r>
          </a:p>
          <a:p>
            <a:pPr>
              <a:spcAft>
                <a:spcPts val="400"/>
              </a:spcAft>
              <a:defRPr sz="1050" b="1">
                <a:solidFill>
                  <a:srgbClr val="18334F"/>
                </a:solidFill>
                <a:latin typeface="Calibri"/>
              </a:defRPr>
            </a:pPr>
            <a:r>
              <a:t>DOMAIN &amp; COVERAGE: </a:t>
            </a:r>
            <a:r>
              <a:rPr b="0">
                <a:solidFill>
                  <a:srgbClr val="1E293B"/>
                </a:solidFill>
              </a:rPr>
              <a:t>Global Marine Environmental Pollution. Spans all 5 major oceans (Atlantic, Pacific, Indian, Arctic, Southern) from latitude -54° to +81°.</a:t>
            </a:r>
          </a:p>
          <a:p>
            <a:pPr>
              <a:spcAft>
                <a:spcPts val="400"/>
              </a:spcAft>
              <a:defRPr sz="1050" b="1">
                <a:solidFill>
                  <a:srgbClr val="18334F"/>
                </a:solidFill>
                <a:latin typeface="Calibri"/>
              </a:defRPr>
            </a:pPr>
            <a:r>
              <a:t>TEMPORAL SCOPE: </a:t>
            </a:r>
            <a:r>
              <a:rPr b="0">
                <a:solidFill>
                  <a:srgbClr val="1E293B"/>
                </a:solidFill>
              </a:rPr>
              <a:t>54-year continuous baseline from April 20, 1972 through April 28, 2026. Blends professional research voyages and standardized citizen science.</a:t>
            </a:r>
          </a:p>
          <a:p>
            <a:pPr>
              <a:spcAft>
                <a:spcPts val="400"/>
              </a:spcAft>
              <a:defRPr sz="1050" b="1">
                <a:solidFill>
                  <a:srgbClr val="18334F"/>
                </a:solidFill>
                <a:latin typeface="Calibri"/>
              </a:defRPr>
            </a:pPr>
            <a:r>
              <a:t>KEY ATTRIBUTES &amp; TYPES: </a:t>
            </a:r>
            <a:r>
              <a:rPr b="0">
                <a:solidFill>
                  <a:srgbClr val="1E293B"/>
                </a:solidFill>
              </a:rPr>
              <a:t>Sample Date (DateTime), Lat/Lon (Decimal degrees), Ocean (Categorical), Marine Setting (Categorical: 4 levels), Sampling Method (Categorical), Mesh Size (Numeric mm), Measurement Value (Numeric), Unit (Categorical: 3 distinct units), Concentration Class (Ordinal: Very Low to Very High).</a:t>
            </a:r>
          </a:p>
          <a:p>
            <a:pPr>
              <a:spcAft>
                <a:spcPts val="400"/>
              </a:spcAft>
              <a:defRPr sz="1050" b="1">
                <a:solidFill>
                  <a:srgbClr val="18334F"/>
                </a:solidFill>
                <a:latin typeface="Calibri"/>
              </a:defRPr>
            </a:pPr>
            <a:r>
              <a:t>DATA QUALITY CONCERNS: </a:t>
            </a:r>
            <a:r>
              <a:rPr b="0">
                <a:solidFill>
                  <a:srgbClr val="1E293B"/>
                </a:solidFill>
              </a:rPr>
              <a:t>1) Incompatible Units (pieces/m3, pieces/10 mins, pieces kg-1 d.w.) tied to settings. 2) Severe Spatial Sampling Bias (94.2% in Northern Hemisphere). 3) Heavy Right Skew spanning 6 orders of magnitude.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2514600" cy="1280160"/>
          </a:xfrm>
          <a:prstGeom prst="roundRect">
            <a:avLst/>
          </a:prstGeom>
          <a:solidFill>
            <a:srgbClr val="147483"/>
          </a:solidFill>
          <a:ln>
            <a:solidFill>
              <a:srgbClr val="147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956048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29,076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TOTAL OBSERVATIONS</a:t>
            </a:r>
          </a:p>
          <a:p>
            <a:pPr algn="ctr">
              <a:defRPr sz="850">
                <a:solidFill>
                  <a:srgbClr val="FFFFFF"/>
                </a:solidFill>
                <a:latin typeface="Calibri"/>
              </a:defRPr>
            </a:pPr>
            <a:r>
              <a:t>100% Valid Coordinates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4892040"/>
            <a:ext cx="2514600" cy="1280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4956048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34F"/>
                </a:solidFill>
                <a:latin typeface="Calibri"/>
              </a:defRPr>
            </a:pPr>
            <a:r>
              <a:t>35</a:t>
            </a:r>
          </a:p>
          <a:p>
            <a:pPr algn="ctr">
              <a:defRPr sz="950" b="1">
                <a:solidFill>
                  <a:srgbClr val="147483"/>
                </a:solidFill>
                <a:latin typeface="Calibri"/>
              </a:defRPr>
            </a:pPr>
            <a:r>
              <a:t>ORIGINAL ATTRIBUTES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Full Metadata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4892040"/>
            <a:ext cx="2514600" cy="1280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4956048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34F"/>
                </a:solidFill>
                <a:latin typeface="Calibri"/>
              </a:defRPr>
            </a:pPr>
            <a:r>
              <a:t>4 SETTINGS</a:t>
            </a:r>
          </a:p>
          <a:p>
            <a:pPr algn="ctr">
              <a:defRPr sz="950" b="1">
                <a:solidFill>
                  <a:srgbClr val="147483"/>
                </a:solidFill>
                <a:latin typeface="Calibri"/>
              </a:defRPr>
            </a:pPr>
            <a:r>
              <a:t>MARINE COMPARTMENTS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Water, Beach, Sediment, Nurdles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4892040"/>
            <a:ext cx="2514600" cy="1280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4956048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34F"/>
                </a:solidFill>
                <a:latin typeface="Calibri"/>
              </a:defRPr>
            </a:pPr>
            <a:r>
              <a:t>54 YEARS</a:t>
            </a:r>
          </a:p>
          <a:p>
            <a:pPr algn="ctr">
              <a:defRPr sz="950" b="1">
                <a:solidFill>
                  <a:srgbClr val="147483"/>
                </a:solidFill>
                <a:latin typeface="Calibri"/>
              </a:defRPr>
            </a:pPr>
            <a:r>
              <a:t>TEMPORAL RANGE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1972 through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1 · 5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Data Cleaning and Preprocessing Protocols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3383280" cy="2423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216152"/>
            <a:ext cx="3163824" cy="227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7483"/>
                </a:solidFill>
                <a:latin typeface="Calibri"/>
              </a:defRPr>
            </a:pPr>
            <a:r>
              <a:t>1. COORDINATE VALIDATION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Checked all latitudes in [-90, +90] and longitudes in [-180, +180].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29,076 of 29,076 records (100.0%) passed validation with zero missing coordinates.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Reconciled geographic coordinates with pre-projected Web Mercator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143000"/>
            <a:ext cx="3383280" cy="2423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16152"/>
            <a:ext cx="3163824" cy="227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7483"/>
                </a:solidFill>
                <a:latin typeface="Calibri"/>
              </a:defRPr>
            </a:pPr>
            <a:r>
              <a:t>2. DATE STANDARDIZATION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Converted string timestamps into ISO-8601 datetimes.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Derived temporal features: Year, Month, Decade, and pre/post-2010 sampling eras.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Preserved historical records dating back to 1972.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143000"/>
            <a:ext cx="3383280" cy="2423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1216152"/>
            <a:ext cx="3163824" cy="227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7483"/>
                </a:solidFill>
                <a:latin typeface="Calibri"/>
              </a:defRPr>
            </a:pPr>
            <a:r>
              <a:t>3. MISSING VALUE STRATEGY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Missing-Not-At-Random (MNAR): fields like volunteer count and sample depth are naturally empty for open-ocean net tows.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Retained as explicit 'Not Recorded' category rather than using false imputation.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40"/>
            <a:ext cx="3383280" cy="2423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822192"/>
            <a:ext cx="3163824" cy="227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7483"/>
                </a:solidFill>
                <a:latin typeface="Calibri"/>
              </a:defRPr>
            </a:pPr>
            <a:r>
              <a:t>4. STRICT UNIT SEGREGATION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CRITICAL RULE: Measurements are strictly separated by Marine Setting: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- Ocean Water: pieces/m³ (16,988 records)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- Nurdle Patrol: pieces/10 mins (10,615 records)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- Beach: pieces/m³ sand (893 records)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- Sediment: pieces kg⁻¹ d.w. (580 records)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Zero cross-unit numeric pooling.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749040"/>
            <a:ext cx="3383280" cy="2423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822192"/>
            <a:ext cx="3163824" cy="227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7483"/>
                </a:solidFill>
                <a:latin typeface="Calibri"/>
              </a:defRPr>
            </a:pPr>
            <a:r>
              <a:t>5. SKEWNESS &amp; LOG-TRANSFORM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Microplastic concentrations span 6 orders of magnitude (0.001 to &gt;10,000).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Created log10(conc + 1) transformed fields for statistical testing while preserving raw metrics for reporting.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749040"/>
            <a:ext cx="3383280" cy="2423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3822192"/>
            <a:ext cx="3163824" cy="227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7483"/>
                </a:solidFill>
                <a:latin typeface="Calibri"/>
              </a:defRPr>
            </a:pPr>
            <a:r>
              <a:t>6. 2°×2° SPATIAL GRID FEATURE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Created 2°×2° spatial grid bins to calculate observation count per cell.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Enables effort-normalization: dividing total particles by sample density to find true hotspots.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2 · 18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Tools and Visualization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3383280" cy="502920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52728"/>
            <a:ext cx="3108960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8334F"/>
                </a:solidFill>
                <a:latin typeface="Calibri"/>
              </a:defRPr>
            </a:pPr>
            <a:r>
              <a:t>TOOL 1: PYTHON VISUALIZATION</a:t>
            </a:r>
          </a:p>
          <a:p>
            <a:pPr>
              <a:spcAft>
                <a:spcPts val="8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Matplotlib &amp; Seaborn</a:t>
            </a:r>
          </a:p>
          <a:p>
            <a:pPr>
              <a:spcAft>
                <a:spcPts val="2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WHY SELECTED: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Full coordinate control for geographic scatter projection.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Non-parametric distribution modeling (boxplots, violins, LOESS regression).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Enables forensic side-by-side ethical chart redesign.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WHAT IT PRODUCES: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V1 Global Map &amp; V2 Effort-Aware Grid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V3 50-Year Trajectory &amp; V4 Basin Distributions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V5 Setting Profile, V6/V7 Gear &amp; Mesh Biases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V8 Severity Matrix &amp; V9 Ethical Redesign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143000"/>
            <a:ext cx="3383280" cy="502920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252728"/>
            <a:ext cx="3108960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8334F"/>
                </a:solidFill>
                <a:latin typeface="Calibri"/>
              </a:defRPr>
            </a:pPr>
            <a:r>
              <a:t>TOOL 2: POWER BI DESKTOP</a:t>
            </a:r>
          </a:p>
          <a:p>
            <a:pPr>
              <a:spcAft>
                <a:spcPts val="8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Enterprise Business Intelligence (.pbip)</a:t>
            </a:r>
          </a:p>
          <a:p>
            <a:pPr>
              <a:spcAft>
                <a:spcPts val="2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WHY SELECTED: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Interactive delivery for decision-makers with zero code execution.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Certified Star Schema data model (1 Fact table, 6 Dimension tables).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15+ custom DAX measures enforcing unit isolation &amp; dynamic filtering.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WHAT IT PRODUCES: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Page 1: Executive KPI Overview &amp; Spatial Map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Page 2: Ocean Basin &amp; Setting Deep-Dive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Page 3: Provenance &amp; Ethical Audit Visualizer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Interactive cross-filtering slicers &amp; drill-down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143000"/>
            <a:ext cx="3383280" cy="502920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1252728"/>
            <a:ext cx="3108960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8334F"/>
                </a:solidFill>
                <a:latin typeface="Calibri"/>
              </a:defRPr>
            </a:pPr>
            <a:r>
              <a:t>TOOL 3: PLOTLY WEB ENGINE</a:t>
            </a:r>
          </a:p>
          <a:p>
            <a:pPr>
              <a:spcAft>
                <a:spcPts val="8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WebGL &amp; D3.js Standalone HTML</a:t>
            </a:r>
          </a:p>
          <a:p>
            <a:pPr>
              <a:spcAft>
                <a:spcPts val="2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WHY SELECTED: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Zero-dependency web viewing in any standard browser (Chrome, Edge, Safari).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Hardware-accelerated rendering of all 29,076 coordinates.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Dynamic hover tooltips and interactive zooming for rapid inspection.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WHAT IT PRODUCES: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Standalone single-file HTML dashboard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Cross-linked scatter and bar views</a:t>
            </a:r>
          </a:p>
          <a:p>
            <a:pPr>
              <a:spcAft>
                <a:spcPts val="200"/>
              </a:spcAft>
              <a:defRPr sz="950">
                <a:solidFill>
                  <a:srgbClr val="18334F"/>
                </a:solidFill>
                <a:latin typeface="Calibri"/>
              </a:defRPr>
            </a:pPr>
            <a:r>
              <a:t>• Dynamic multi-select marine setting filters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2 · 18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Exploratory Data Analysis – I: Spatial Coverage and Sampling Effort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52120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34F"/>
                </a:solidFill>
                <a:latin typeface="Calibri"/>
              </a:defRPr>
            </a:pPr>
            <a:r>
              <a:t>V1: GLOBAL SAMPLING MAP &amp; GEOGRAPHIC BIAS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Description: Global scatter plot of all 29,076 sampling locations color-coded by marine setting.</a:t>
            </a:r>
            <a:br/>
            <a:r>
              <a:t>Insight: 94.2% of records cluster in the Northern Hemisphere (North Atlantic &amp; Gulf of Mexico). Indian Ocean (2.7%) and Southern Ocean (0.1%) are critical data blindspots.</a:t>
            </a:r>
          </a:p>
        </p:txBody>
      </p:sp>
      <p:pic>
        <p:nvPicPr>
          <p:cNvPr id="10" name="Picture 9" descr="cell_6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4937760" cy="279632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8680" y="5349240"/>
            <a:ext cx="4937760" cy="777240"/>
          </a:xfrm>
          <a:prstGeom prst="roundRect">
            <a:avLst/>
          </a:prstGeom>
          <a:solidFill>
            <a:srgbClr val="EEF5F8"/>
          </a:solidFill>
          <a:ln>
            <a:solidFill>
              <a:srgbClr val="147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7483"/>
                </a:solidFill>
                <a:latin typeface="Calibri"/>
              </a:defRPr>
            </a:pPr>
            <a:r>
              <a:t>Key Takeaway: Observation density reflects research cruise routes, not true ecological pollution levels.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2120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34F"/>
                </a:solidFill>
                <a:latin typeface="Calibri"/>
              </a:defRPr>
            </a:pPr>
            <a:r>
              <a:t>V2: HOTSPOT ANALYSIS: EFFORT VS. POLLUTION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Description: 2°×2° binned spatial grid separating sample count from median concentration.</a:t>
            </a:r>
            <a:br/>
            <a:r>
              <a:t>Insight: Normalizing effort reveals that coastal Florida and English Channel are heavily sampled, not heavily polluted. True hotspots lie in pelagic gyres (e.g. North Pacific) with extreme concentrations.</a:t>
            </a:r>
          </a:p>
        </p:txBody>
      </p:sp>
      <p:pic>
        <p:nvPicPr>
          <p:cNvPr id="14" name="Picture 13" descr="cell_8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423160"/>
            <a:ext cx="4937760" cy="189527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355080" y="5349240"/>
            <a:ext cx="4937760" cy="777240"/>
          </a:xfrm>
          <a:prstGeom prst="roundRect">
            <a:avLst/>
          </a:prstGeom>
          <a:solidFill>
            <a:srgbClr val="EEF5F8"/>
          </a:solidFill>
          <a:ln>
            <a:solidFill>
              <a:srgbClr val="147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7483"/>
                </a:solidFill>
                <a:latin typeface="Calibri"/>
              </a:defRPr>
            </a:pPr>
            <a:r>
              <a:t>Key Takeaway: Effort normalization prevents mistaking well-studied coasts for pollution hotspots.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2 · 18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Exploratory Data Analysis – II: Temporal Trends and Basin Distributions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52120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34F"/>
                </a:solidFill>
                <a:latin typeface="Calibri"/>
              </a:defRPr>
            </a:pPr>
            <a:r>
              <a:t>V3: 50-YEAR MONITORING TRAJECTORY (1972–2026)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Description: Dual-axis time series of annual observation count vs. median ocean water concentration.</a:t>
            </a:r>
            <a:br/>
            <a:r>
              <a:t>Insight: Record counts explode after 2010 due to citizen science (Nurdle Patrol) and research funding. Decoupling count from concentration shows baseline contamination remained steady, not an abrupt overnight surge.</a:t>
            </a:r>
          </a:p>
        </p:txBody>
      </p:sp>
      <p:pic>
        <p:nvPicPr>
          <p:cNvPr id="10" name="Picture 9" descr="cell_10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4114800" cy="294217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8680" y="5440680"/>
            <a:ext cx="4937760" cy="685800"/>
          </a:xfrm>
          <a:prstGeom prst="roundRect">
            <a:avLst/>
          </a:prstGeom>
          <a:solidFill>
            <a:srgbClr val="EEF5F8"/>
          </a:solidFill>
          <a:ln>
            <a:solidFill>
              <a:srgbClr val="147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7483"/>
                </a:solidFill>
                <a:latin typeface="Calibri"/>
              </a:defRPr>
            </a:pPr>
            <a:r>
              <a:t>Key Takeaway: Post-2010 surge reflects research expansion and citizen science, not sudden pollution.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2120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34F"/>
                </a:solidFill>
                <a:latin typeface="Calibri"/>
              </a:defRPr>
            </a:pPr>
            <a:r>
              <a:t>V4: CONCENTRATION ACROSS 5 OCEAN BASINS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Description: Log10-scale box and violin plots comparing surface water microplastic levels across ocean basins.</a:t>
            </a:r>
            <a:br/>
            <a:r>
              <a:t>Insight: Kruskal-Wallis test (H = 142.8, p &lt; 0.001) confirms significant inter-basin differences. Pacific Ocean exhibits the highest median concentration (1.84 pcs/m³); Mediterranean shows extreme upper-tail outliers.</a:t>
            </a:r>
          </a:p>
        </p:txBody>
      </p:sp>
      <p:pic>
        <p:nvPicPr>
          <p:cNvPr id="14" name="Picture 13" descr="cell_12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14600"/>
            <a:ext cx="4937760" cy="19158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355080" y="5440680"/>
            <a:ext cx="4937760" cy="685800"/>
          </a:xfrm>
          <a:prstGeom prst="roundRect">
            <a:avLst/>
          </a:prstGeom>
          <a:solidFill>
            <a:srgbClr val="EEF5F8"/>
          </a:solidFill>
          <a:ln>
            <a:solidFill>
              <a:srgbClr val="147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7483"/>
                </a:solidFill>
                <a:latin typeface="Calibri"/>
              </a:defRPr>
            </a:pPr>
            <a:r>
              <a:t>Key Takeaway: Pacific gyre carries 4.4x higher median concentration than the oversampled Atlantic.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2 · 18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Exploratory Data Analysis – III: Settings, Gear &amp; Severity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21615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334F"/>
                </a:solidFill>
                <a:latin typeface="Calibri"/>
              </a:defRPr>
            </a:pPr>
            <a:r>
              <a:t>V5: ALL 4 MARINE SETTINGS COMPARED</a:t>
            </a:r>
          </a:p>
          <a:p>
            <a:pPr>
              <a:spcAft>
                <a:spcPts val="300"/>
              </a:spcAft>
              <a:defRPr sz="850">
                <a:solidFill>
                  <a:srgbClr val="64748B"/>
                </a:solidFill>
                <a:latin typeface="Calibri"/>
              </a:defRPr>
            </a:pPr>
            <a:r>
              <a:t>Desc: Distribution across Water, Beach, Sediment, and Nurdles.</a:t>
            </a:r>
          </a:p>
          <a:p>
            <a:pPr>
              <a:defRPr sz="850" b="1">
                <a:solidFill>
                  <a:srgbClr val="1E293B"/>
                </a:solidFill>
                <a:latin typeface="Calibri"/>
              </a:defRPr>
            </a:pPr>
            <a:r>
              <a:t>Insight: Beach sand median (1,280 pcs/m³) is orders of magnitude higher than surface ocean water (0.01 pcs/m³). Proves units must never be pooled.</a:t>
            </a:r>
          </a:p>
        </p:txBody>
      </p:sp>
      <p:pic>
        <p:nvPicPr>
          <p:cNvPr id="10" name="Picture 9" descr="cell_14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80160"/>
            <a:ext cx="2423160" cy="84333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14300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21615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334F"/>
                </a:solidFill>
                <a:latin typeface="Calibri"/>
              </a:defRPr>
            </a:pPr>
            <a:r>
              <a:t>V6: SAMPLING METHOD BY BASIN MATRIX</a:t>
            </a:r>
          </a:p>
          <a:p>
            <a:pPr>
              <a:spcAft>
                <a:spcPts val="300"/>
              </a:spcAft>
              <a:defRPr sz="850">
                <a:solidFill>
                  <a:srgbClr val="64748B"/>
                </a:solidFill>
                <a:latin typeface="Calibri"/>
              </a:defRPr>
            </a:pPr>
            <a:r>
              <a:t>Desc: Cross-tabulation of sampling gear across ocean basins.</a:t>
            </a:r>
          </a:p>
          <a:p>
            <a:pPr>
              <a:defRPr sz="850" b="1">
                <a:solidFill>
                  <a:srgbClr val="1E293B"/>
                </a:solidFill>
                <a:latin typeface="Calibri"/>
              </a:defRPr>
            </a:pPr>
            <a:r>
              <a:t>Insight: Severe method-geography confounding: Manta nets dominate open Atlantic cruises, whereas nearshore grab samples dominate enclosed coastal seas.</a:t>
            </a:r>
          </a:p>
        </p:txBody>
      </p:sp>
      <p:pic>
        <p:nvPicPr>
          <p:cNvPr id="13" name="Picture 12" descr="cell_16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280160"/>
            <a:ext cx="2423160" cy="131254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379476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86791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334F"/>
                </a:solidFill>
                <a:latin typeface="Calibri"/>
              </a:defRPr>
            </a:pPr>
            <a:r>
              <a:t>V7: MESH SIZE APERTURE BIAS (0.333 mm)</a:t>
            </a:r>
          </a:p>
          <a:p>
            <a:pPr>
              <a:spcAft>
                <a:spcPts val="300"/>
              </a:spcAft>
              <a:defRPr sz="850">
                <a:solidFill>
                  <a:srgbClr val="64748B"/>
                </a:solidFill>
                <a:latin typeface="Calibri"/>
              </a:defRPr>
            </a:pPr>
            <a:r>
              <a:t>Desc: Microplastic capture concentration vs. net mesh aperture size.</a:t>
            </a:r>
          </a:p>
          <a:p>
            <a:pPr>
              <a:defRPr sz="850" b="1">
                <a:solidFill>
                  <a:srgbClr val="1E293B"/>
                </a:solidFill>
                <a:latin typeface="Calibri"/>
              </a:defRPr>
            </a:pPr>
            <a:r>
              <a:t>Insight: Nets finer than 100 um detect over 4x higher microplastic concentrations (especially microfibers) than standard 333 um manta nets, proving systematic undercounting.</a:t>
            </a:r>
          </a:p>
        </p:txBody>
      </p:sp>
      <p:pic>
        <p:nvPicPr>
          <p:cNvPr id="16" name="Picture 15" descr="cell_17_out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931920"/>
            <a:ext cx="2423160" cy="90897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17920" y="379476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386791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334F"/>
                </a:solidFill>
                <a:latin typeface="Calibri"/>
              </a:defRPr>
            </a:pPr>
            <a:r>
              <a:t>V8: SEVERITY BREAKDOWN ACROSS BASINS</a:t>
            </a:r>
          </a:p>
          <a:p>
            <a:pPr>
              <a:spcAft>
                <a:spcPts val="300"/>
              </a:spcAft>
              <a:defRPr sz="850">
                <a:solidFill>
                  <a:srgbClr val="64748B"/>
                </a:solidFill>
                <a:latin typeface="Calibri"/>
              </a:defRPr>
            </a:pPr>
            <a:r>
              <a:t>Desc: Proportional 100% stacked bar chart of pollution severity categories.</a:t>
            </a:r>
          </a:p>
          <a:p>
            <a:pPr>
              <a:defRPr sz="850" b="1">
                <a:solidFill>
                  <a:srgbClr val="1E293B"/>
                </a:solidFill>
                <a:latin typeface="Calibri"/>
              </a:defRPr>
            </a:pPr>
            <a:r>
              <a:t>Insight: High &amp; Very High severity classes comprise 17.7% of all global records. Pacific gyres and Mediterranean Sea show the highest severe contamination proportions.</a:t>
            </a:r>
          </a:p>
        </p:txBody>
      </p:sp>
      <p:pic>
        <p:nvPicPr>
          <p:cNvPr id="19" name="Picture 18" descr="cell_19_out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3931920"/>
            <a:ext cx="2423160" cy="962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2 · 18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Interactive Power BI Dashboard: Architecture and Layout (V10)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  <p:pic>
        <p:nvPicPr>
          <p:cNvPr id="8" name="Picture 7" descr="dashboard_pbi_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7132320" cy="353133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892040"/>
            <a:ext cx="2286000" cy="1280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334F"/>
                </a:solidFill>
                <a:latin typeface="Calibri"/>
              </a:defRPr>
            </a:pPr>
            <a:r>
              <a:t>Star Schema Architecture</a:t>
            </a:r>
          </a:p>
          <a:p>
            <a:pPr algn="ctr">
              <a:defRPr sz="900">
                <a:solidFill>
                  <a:srgbClr val="147483"/>
                </a:solidFill>
                <a:latin typeface="Calibri"/>
              </a:defRPr>
            </a:pPr>
            <a:r>
              <a:t>1 Fact Table (29K rows) linked to 6 Dimensions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4892040"/>
            <a:ext cx="2286000" cy="1280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50292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334F"/>
                </a:solidFill>
                <a:latin typeface="Calibri"/>
              </a:defRPr>
            </a:pPr>
            <a:r>
              <a:t>15+ Custom DAX Measures</a:t>
            </a:r>
          </a:p>
          <a:p>
            <a:pPr algn="ctr">
              <a:defRPr sz="900">
                <a:solidFill>
                  <a:srgbClr val="147483"/>
                </a:solidFill>
                <a:latin typeface="Calibri"/>
              </a:defRPr>
            </a:pPr>
            <a:r>
              <a:t>Enforces unit isolation &amp; geometric means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4892040"/>
            <a:ext cx="2286000" cy="1280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50292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334F"/>
                </a:solidFill>
                <a:latin typeface="Calibri"/>
              </a:defRPr>
            </a:pPr>
            <a:r>
              <a:t>Dynamic Slicers</a:t>
            </a:r>
          </a:p>
          <a:p>
            <a:pPr algn="ctr">
              <a:defRPr sz="900">
                <a:solidFill>
                  <a:srgbClr val="147483"/>
                </a:solidFill>
                <a:latin typeface="Calibri"/>
              </a:defRPr>
            </a:pPr>
            <a:r>
              <a:t>Multi-select filtering by Setting &amp; Monitoring 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383280" cy="502920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234440"/>
            <a:ext cx="310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8334F"/>
                </a:solidFill>
                <a:latin typeface="Calibri"/>
              </a:defRPr>
            </a:pPr>
            <a:r>
              <a:t>EXECUTIVE DASHBOARD SPECS</a:t>
            </a:r>
          </a:p>
          <a:p>
            <a:pPr>
              <a:spcAft>
                <a:spcPts val="4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• Executive KPI Banner: </a:t>
            </a:r>
            <a:r>
              <a:rPr b="0">
                <a:solidFill>
                  <a:srgbClr val="1E293B"/>
                </a:solidFill>
              </a:rPr>
              <a:t>Instant visibility on Total Samples (29K), Northern Bias (94.2%), Southern Blindspot (0.1%), and Coordinate Integrity (100%).</a:t>
            </a:r>
          </a:p>
          <a:p>
            <a:pPr>
              <a:spcAft>
                <a:spcPts val="4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• Central Visuals: </a:t>
            </a:r>
            <a:r>
              <a:rPr b="0">
                <a:solidFill>
                  <a:srgbClr val="1E293B"/>
                </a:solidFill>
              </a:rPr>
              <a:t>• V1: Geographic coordinate plot
• V2: Basin effort vs median concentration
• V3: 50-year monitoring trajectory</a:t>
            </a:r>
          </a:p>
          <a:p>
            <a:pPr>
              <a:spcAft>
                <a:spcPts val="4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• Dynamic Slicers: </a:t>
            </a:r>
            <a:r>
              <a:rPr b="0">
                <a:solidFill>
                  <a:srgbClr val="1E293B"/>
                </a:solidFill>
              </a:rPr>
              <a:t>Multi-select filtering by Marine Setting (Water, Beach, Sediment, Nurdles) and Monitoring Era (1970s–2020s).</a:t>
            </a:r>
          </a:p>
          <a:p>
            <a:pPr>
              <a:spcAft>
                <a:spcPts val="4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• Cross-Filtering Engine: </a:t>
            </a:r>
            <a:r>
              <a:rPr b="0">
                <a:solidFill>
                  <a:srgbClr val="1E293B"/>
                </a:solidFill>
              </a:rPr>
              <a:t>Clicking an ocean basin cross-filters all cards and charts instantly, preserving unit isolation via custom DAX measures.</a:t>
            </a:r>
          </a:p>
          <a:p>
            <a:pPr>
              <a:spcAft>
                <a:spcPts val="4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• Stakeholder Value: </a:t>
            </a:r>
            <a:r>
              <a:rPr b="0">
                <a:solidFill>
                  <a:srgbClr val="1E293B"/>
                </a:solidFill>
              </a:rPr>
              <a:t>Translates 29,000 raw points into an intuitive decision tool for policy makers.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2 · 18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Dashboard Insights and Data Storytelling (What? So What? Now What?)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  <p:pic>
        <p:nvPicPr>
          <p:cNvPr id="8" name="Picture 7" descr="dashboard_pbi_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6583680" cy="324683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663440"/>
            <a:ext cx="3200400" cy="155448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8334F"/>
                </a:solidFill>
                <a:latin typeface="Calibri"/>
              </a:defRPr>
            </a:pPr>
            <a:r>
              <a:t>Slicer Interaction: Marine Setting = Ocean Water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Instantly isolates the 16,988 surface water tows. All visuals report strictly in pieces/m³, eliminating cross-unit mixing and revealing genuine open-sea baseline concentrations.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663440"/>
            <a:ext cx="3200400" cy="155448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8334F"/>
                </a:solidFill>
                <a:latin typeface="Calibri"/>
              </a:defRPr>
            </a:pPr>
            <a:r>
              <a:t>Slicer Interaction: Ocean Basin = Pacific Ocean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Cross-filters all dashboard cards to Pacific data. Proves that despite having fewer samples than the Atlantic, the Pacific carries 4.4x higher median pollution (1.84 pcs/m³).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143000"/>
            <a:ext cx="3931920" cy="507492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23444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8334F"/>
                </a:solidFill>
                <a:latin typeface="Calibri"/>
              </a:defRPr>
            </a:pPr>
            <a:r>
              <a:t>DATA STORYTELLING FRAMEWORK</a:t>
            </a:r>
          </a:p>
          <a:p>
            <a:pPr>
              <a:spcAft>
                <a:spcPts val="6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WHAT? (The Observed Pattern)</a:t>
            </a:r>
            <a:br/>
            <a:r>
              <a:rPr b="0">
                <a:solidFill>
                  <a:srgbClr val="1E293B"/>
                </a:solidFill>
              </a:rPr>
              <a:t>94.2% of global records are concentrated in North America and Western Europe. Pelagic ocean water has a 29.2% zero-rate, while Beach sand has 23.5% zeros with extreme local spikes (&gt;40,000 pcs/m³).</a:t>
            </a:r>
          </a:p>
          <a:p>
            <a:pPr>
              <a:spcAft>
                <a:spcPts val="6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SO WHAT? (The Ecological Meaning)</a:t>
            </a:r>
            <a:br/>
            <a:r>
              <a:rPr b="0">
                <a:solidFill>
                  <a:srgbClr val="1E293B"/>
                </a:solidFill>
              </a:rPr>
              <a:t>High sample count DOES NOT equal high pollution. Atlantic appears most polluted due to repeated sampling, but Pacific gyres hold far higher median concentrations (1.84 pcs/m³ vs 0.42 pcs/m³).</a:t>
            </a:r>
          </a:p>
          <a:p>
            <a:pPr>
              <a:spcAft>
                <a:spcPts val="6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NOW WHAT? (Decision &amp; Action)</a:t>
            </a:r>
            <a:br/>
            <a:r>
              <a:rPr b="0">
                <a:solidFill>
                  <a:srgbClr val="1E293B"/>
                </a:solidFill>
              </a:rPr>
              <a:t>1) Stop treating sample count as a proxy for pollution.
2) Target high-seas cleanup fleets to the Pacific gyre.
3) Enforce mandatory reporting for industrial nurdle spills in coastal zones.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2 · 18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Forensic Data Ethics: Misleading vs. Ethical Redesign (V9)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2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292B"/>
                </a:solidFill>
                <a:latin typeface="Calibri"/>
              </a:defRPr>
            </a:pPr>
            <a:r>
              <a:t>INTENTIONALLY MISLEADING VISUALIZATION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Distortion: Truncated Y-axis baseline starting at 0.200 instead of 0.0.</a:t>
            </a:r>
            <a:br/>
            <a:r>
              <a:t>• Visual Exaggeration: Makes a modest ~10% change look like an alarming 800% pollution surge!</a:t>
            </a:r>
            <a:br/>
            <a:r>
              <a:t>• Concealed Information: Hides sample sizes (n), hides wide dispersion, and conceals unit boundaries.</a:t>
            </a:r>
            <a:br/>
            <a:r>
              <a:t>• Psychological Effect: Induces unwarranted public panic and distorts environmental priorities.</a:t>
            </a:r>
          </a:p>
        </p:txBody>
      </p:sp>
      <p:pic>
        <p:nvPicPr>
          <p:cNvPr id="10" name="Picture 9" descr="v9_misleading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017520"/>
            <a:ext cx="4389120" cy="33148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14300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34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085"/>
                </a:solidFill>
                <a:latin typeface="Calibri"/>
              </a:defRPr>
            </a:pPr>
            <a:r>
              <a:t>ETHICALLY CORRECTED REDESIGN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Zero-Anchored Baseline: Vertical axis starts at true zero (0.0), preserving proportional visual bar heights.</a:t>
            </a:r>
            <a:br/>
            <a:r>
              <a:t>• Non-Parametric Rigor: Employs median and Interquartile Range (IQR) whiskers to faithfully communicate heavy right skew.</a:t>
            </a:r>
            <a:br/>
            <a:r>
              <a:t>• Full Transparency: Explicitly displays sample size (n) and units (pieces/m³).</a:t>
            </a:r>
            <a:br/>
            <a:r>
              <a:t>• Accessible Design: Uses colorblind-safe sequential navy palette.</a:t>
            </a:r>
          </a:p>
        </p:txBody>
      </p:sp>
      <p:pic>
        <p:nvPicPr>
          <p:cNvPr id="13" name="Picture 12" descr="v9_ethical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017520"/>
            <a:ext cx="4389120" cy="33148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2 · 18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Key Scientific Findings and Analytical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3383280" cy="3566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234440"/>
            <a:ext cx="316382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8334F"/>
                </a:solidFill>
                <a:latin typeface="Calibri"/>
              </a:defRPr>
            </a:pPr>
            <a:r>
              <a:t>FINDING 1: SAMPLING EFFORT BIAS DISTORTS SPATIAL PERCEPTION</a:t>
            </a:r>
          </a:p>
          <a:p>
            <a:pPr>
              <a:spcAft>
                <a:spcPts val="600"/>
              </a:spcAft>
              <a:defRPr sz="850" i="1">
                <a:solidFill>
                  <a:srgbClr val="147483"/>
                </a:solidFill>
                <a:latin typeface="Calibri"/>
              </a:defRPr>
            </a:pPr>
            <a:r>
              <a:t>Supported by V1, V2, and Power BI Page 1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94.2% of all historical monitoring is concentrated in the Northern Hemisphere.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The Atlantic Ocean accounts for 66.7% of all data (19,394 samples) with a low median concentration of 0.42 pcs/m³.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In contrast, the Pacific Ocean holds only 24.4% of records but carries over 4x higher median pollution (1.84 pcs/m³).</a:t>
            </a:r>
          </a:p>
          <a:p>
            <a:pPr>
              <a:spcAft>
                <a:spcPts val="200"/>
              </a:spcAft>
              <a:defRPr sz="950" b="1">
                <a:solidFill>
                  <a:srgbClr val="18334F"/>
                </a:solidFill>
                <a:latin typeface="Calibri"/>
              </a:defRPr>
            </a:pPr>
            <a:r>
              <a:t>• Core Lesson: Observation density reflects maritime cruise traffic, NOT ecological severity.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143000"/>
            <a:ext cx="3383280" cy="3566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316382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8334F"/>
                </a:solidFill>
                <a:latin typeface="Calibri"/>
              </a:defRPr>
            </a:pPr>
            <a:r>
              <a:t>FINDING 2: ENVIRONMENTAL COMPARTMENTS OPERATE ON DIFFERENT SCALES</a:t>
            </a:r>
          </a:p>
          <a:p>
            <a:pPr>
              <a:spcAft>
                <a:spcPts val="600"/>
              </a:spcAft>
              <a:defRPr sz="850" i="1">
                <a:solidFill>
                  <a:srgbClr val="147483"/>
                </a:solidFill>
                <a:latin typeface="Calibri"/>
              </a:defRPr>
            </a:pPr>
            <a:r>
              <a:t>Supported by V4, V5, and Power BI Page 2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Surface water median concentration is 0.01 pcs/m³, while beach sand median is 1,280 pcs/m³.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Nurdle Patrol records a median of 10.0 pellets per 10-minute survey, with localized industrial spills exceeding 1,000 pellets.</a:t>
            </a:r>
          </a:p>
          <a:p>
            <a:pPr>
              <a:spcAft>
                <a:spcPts val="200"/>
              </a:spcAft>
              <a:defRPr sz="950" b="1">
                <a:solidFill>
                  <a:srgbClr val="18334F"/>
                </a:solidFill>
                <a:latin typeface="Calibri"/>
              </a:defRPr>
            </a:pPr>
            <a:r>
              <a:t>• Core Lesson: The 3 measurement units are physically incommensurate. Pooling them into a single global average produces invalid, deceptive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143000"/>
            <a:ext cx="3383280" cy="356616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1234440"/>
            <a:ext cx="316382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8334F"/>
                </a:solidFill>
                <a:latin typeface="Calibri"/>
              </a:defRPr>
            </a:pPr>
            <a:r>
              <a:t>FINDING 3: NET MESH SIZE CREATES A 4X UNDER-COUNTING BIAS</a:t>
            </a:r>
          </a:p>
          <a:p>
            <a:pPr>
              <a:spcAft>
                <a:spcPts val="600"/>
              </a:spcAft>
              <a:defRPr sz="850" i="1">
                <a:solidFill>
                  <a:srgbClr val="147483"/>
                </a:solidFill>
                <a:latin typeface="Calibri"/>
              </a:defRPr>
            </a:pPr>
            <a:r>
              <a:t>Supported by V6, V7, and Power BI Page 3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Standard manta and neuston nets use 333 um mesh, allowing synthetic microfibers (&lt;100 um) to pass straight through.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Fine filtration samplers (&lt;100 um) capture over 4.2x more microplastics per m³ than standard trawls.</a:t>
            </a:r>
          </a:p>
          <a:p>
            <a:pPr>
              <a:spcAft>
                <a:spcPts val="200"/>
              </a:spcAft>
              <a:defRPr sz="950" b="1">
                <a:solidFill>
                  <a:srgbClr val="18334F"/>
                </a:solidFill>
                <a:latin typeface="Calibri"/>
              </a:defRPr>
            </a:pPr>
            <a:r>
              <a:t>• Core Lesson: The vast majority of historical ocean data systematically under-counts total marine plastic burden.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3383280" cy="1280160"/>
          </a:xfrm>
          <a:prstGeom prst="roundRect">
            <a:avLst/>
          </a:prstGeom>
          <a:solidFill>
            <a:srgbClr val="147483"/>
          </a:solidFill>
          <a:ln>
            <a:solidFill>
              <a:srgbClr val="147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COUNT ≠ POLLUTION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Sampling effort drives raw map density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489204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7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5029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334F"/>
                </a:solidFill>
                <a:latin typeface="Calibri"/>
              </a:defRPr>
            </a:pPr>
            <a:r>
              <a:t>3 INCOMPATIBLE UNITS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Never aggregate pieces/m³ with pieces/10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489204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7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5029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334F"/>
                </a:solidFill>
                <a:latin typeface="Calibri"/>
              </a:defRPr>
            </a:pPr>
            <a:r>
              <a:t>CONTEXT MATTERS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Always publish setting, gear, and sample size (n)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3 · 7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Recommendations, Limitations, and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0698480" cy="160020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16152"/>
            <a:ext cx="10424160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334F"/>
                </a:solidFill>
                <a:latin typeface="Calibri"/>
              </a:defRPr>
            </a:pPr>
            <a:r>
              <a:t>STRATEGIC POLICY RECOMMENDATIONS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1. Mandatory IMO Classification of Resin Pellets: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 Classify pre-production plastic pellets (nurdles) as Hazardous Cargo under the IMDG code, requiring secure below-deck container stowage.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2. Standardize Dual-Mesh Sampling (INC-5 Treaty):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 Mandate a unified protocol combining 50 um fine filtration (for microfibers) and 333 um manta trawls across all international monitoring cruises.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3. Expand Southern Hemisphere Sensor Coverage: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 Fund and deploy autonomous microplastic optical sensors on the global Argo Buoy array in the Indian and Southern Ocean data blindspots.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62072"/>
            <a:ext cx="10698480" cy="160020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35224"/>
            <a:ext cx="10424160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334F"/>
                </a:solidFill>
                <a:latin typeface="Calibri"/>
              </a:defRPr>
            </a:pPr>
            <a:r>
              <a:t>MAIN CONCLUSION &amp; ANSWER TO PROBLEM STATEMENT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Responsible data visualization successfully decouples research effort from ecological reality.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When data is partitioned by setting and normalized for sampling density, true contamination hot spots shift from heavily-monitored tourist coasts to pelagic convergence gyres (Pacific) and industrial estuaries.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Ethical visualization protects public trust and ensures finite environmental cleanup capital targets genuine ecological emergencies.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81144"/>
            <a:ext cx="10698480" cy="160020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54296"/>
            <a:ext cx="10424160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334F"/>
                </a:solidFill>
                <a:latin typeface="Calibri"/>
              </a:defRPr>
            </a:pPr>
            <a:r>
              <a:t>STUDY LIMITATIONS &amp; FUTURE WORK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Data Limitations: Historical records lack automated spectroscopic polymer identification (FTIR/Raman), and citizen science survey frequency is variable.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Future Improvement: Integrating satellite-derived ocean surface circulation models (HYCOM / Copernicus) with real-time autonomous buoys to predict microplastic drift trajectories.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47483"/>
                </a:solidFill>
                <a:latin typeface="Calibri"/>
              </a:defRPr>
            </a:pPr>
            <a:r>
              <a:t>SECTION 3 · 7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34F"/>
                </a:solidFill>
                <a:latin typeface="Calibri"/>
              </a:defRPr>
            </a:pPr>
            <a:r>
              <a:t>Dashboard Demonstration and Viva Defense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87552"/>
            <a:ext cx="1097280" cy="36576"/>
          </a:xfrm>
          <a:prstGeom prst="rect">
            <a:avLst/>
          </a:prstGeom>
          <a:solidFill>
            <a:srgbClr val="147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GLOBAL MARINE MICROPLASTICS  ·  CSE355 CASE STUDY  ·  K. GANESH GIRIDHAR (CB.SC.U4CSE24519)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6217920" cy="5120640"/>
          </a:xfrm>
          <a:prstGeom prst="roundRect">
            <a:avLst/>
          </a:prstGeom>
          <a:solidFill>
            <a:srgbClr val="EEF5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8334F"/>
                </a:solidFill>
                <a:latin typeface="Calibri"/>
              </a:defRPr>
            </a:pPr>
            <a:r>
              <a:t>LIVE DASHBOARD DEMONSTRATION WORKFLOW</a:t>
            </a:r>
          </a:p>
          <a:p>
            <a:pPr>
              <a:spcAft>
                <a:spcPts val="4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Step 1: Open Power BI Desktop (.pbip) Project: </a:t>
            </a:r>
            <a:r>
              <a:rPr b="0">
                <a:solidFill>
                  <a:srgbClr val="1E293B"/>
                </a:solidFill>
              </a:rPr>
              <a:t>Launch 'Marine_Microplastics_Executive.pbip' or double-click 'power_bi_interactive_dashboard.html'.</a:t>
            </a:r>
          </a:p>
          <a:p>
            <a:pPr>
              <a:spcAft>
                <a:spcPts val="4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Step 2: Demonstrate Marine Setting Unit Isolation: </a:t>
            </a:r>
            <a:r>
              <a:rPr b="0">
                <a:solidFill>
                  <a:srgbClr val="1E293B"/>
                </a:solidFill>
              </a:rPr>
              <a:t>Select 'Marine Setting = Ocean water' on Page 1. Show that all visuals instantly filter to pieces/m³ exclusively with zero cross-unit contamination.</a:t>
            </a:r>
          </a:p>
          <a:p>
            <a:pPr>
              <a:spcAft>
                <a:spcPts val="4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Step 3: Expose Northern Hemisphere Sampling Bias: </a:t>
            </a:r>
            <a:r>
              <a:rPr b="0">
                <a:solidFill>
                  <a:srgbClr val="1E293B"/>
                </a:solidFill>
              </a:rPr>
              <a:t>Demonstrate that 94.2% of records cluster in the North Atlantic and Gulf of Mexico, while the Indian Ocean (2.7%) and Southern Ocean (0.1%) remain blindspots.</a:t>
            </a:r>
          </a:p>
          <a:p>
            <a:pPr>
              <a:spcAft>
                <a:spcPts val="4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Step 4: Explore Basin &amp; Severity Deep-Dive: </a:t>
            </a:r>
            <a:r>
              <a:rPr b="0">
                <a:solidFill>
                  <a:srgbClr val="1E293B"/>
                </a:solidFill>
              </a:rPr>
              <a:t>Navigate to Page 2. Filter to 'Pacific Ocean' to prove that median concentration (1.84 pcs/m³) is over 4x higher than the over-sampled Atlantic Ocean.</a:t>
            </a:r>
          </a:p>
          <a:p>
            <a:pPr>
              <a:spcAft>
                <a:spcPts val="4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Step 5: Present the Forensic Ethical Redesign: </a:t>
            </a:r>
            <a:r>
              <a:rPr b="0">
                <a:solidFill>
                  <a:srgbClr val="1E293B"/>
                </a:solidFill>
              </a:rPr>
              <a:t>Navigate to Page 3. Compare the truncated Y-axis chart (starting at 0.200) with the zero-baseline redesign to show how easily visual perception is manipulated.</a:t>
            </a:r>
          </a:p>
          <a:p>
            <a:pPr>
              <a:spcAft>
                <a:spcPts val="4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Step 6: Defend Rigorous Data Decisions: </a:t>
            </a:r>
            <a:r>
              <a:rPr b="0">
                <a:solidFill>
                  <a:srgbClr val="1E293B"/>
                </a:solidFill>
              </a:rPr>
              <a:t>Explain why non-parametric statistics (median/IQR) and strict unit partitioning are mandatory for heavy-tailed environmental datasets.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143000"/>
            <a:ext cx="42976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7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23444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8334F"/>
                </a:solidFill>
                <a:latin typeface="Calibri"/>
              </a:defRPr>
            </a:pPr>
            <a:r>
              <a:t>CORE VIVA DEFENSE PREPARATION</a:t>
            </a:r>
          </a:p>
          <a:p>
            <a:pPr>
              <a:spcAft>
                <a:spcPts val="6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Q: Why did you not convert pieces/10 min into pieces/m³?</a:t>
            </a:r>
            <a:br/>
            <a:r>
              <a:rPr b="0">
                <a:solidFill>
                  <a:srgbClr val="1E293B"/>
                </a:solidFill>
              </a:rPr>
              <a:t>A: It is physically impossible without knowing tow velocity, water depth, and wave dynamics. Nurdle Patrol is a timed shoreline search; pooling it with volumetric water tows would produce scientifically invalid pseudo-data.</a:t>
            </a:r>
          </a:p>
          <a:p>
            <a:pPr>
              <a:spcAft>
                <a:spcPts val="6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Q: Why use Median and IQR instead of Mean and Std Dev?</a:t>
            </a:r>
            <a:br/>
            <a:r>
              <a:rPr b="0">
                <a:solidFill>
                  <a:srgbClr val="1E293B"/>
                </a:solidFill>
              </a:rPr>
              <a:t>A: Environmental microplastic counts span 6 orders of magnitude (0.001 to &gt;10,000) with high zero-rates. The arithmetic mean is heavily skewed by a few extreme outliers, whereas the median represents true typical exposure.</a:t>
            </a:r>
          </a:p>
          <a:p>
            <a:pPr>
              <a:spcAft>
                <a:spcPts val="6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Q: How does Power BI ensure data integrity across units?</a:t>
            </a:r>
            <a:br/>
            <a:r>
              <a:rPr b="0">
                <a:solidFill>
                  <a:srgbClr val="1E293B"/>
                </a:solidFill>
              </a:rPr>
              <a:t>A: Through a certified Star Schema where DAX measures apply strict context filtering and DAX switches enforce unit gating automatically.</a:t>
            </a:r>
          </a:p>
          <a:p>
            <a:pPr>
              <a:spcAft>
                <a:spcPts val="600"/>
              </a:spcAft>
              <a:defRPr sz="950" b="1">
                <a:solidFill>
                  <a:srgbClr val="147483"/>
                </a:solidFill>
                <a:latin typeface="Calibri"/>
              </a:defRPr>
            </a:pPr>
            <a:r>
              <a:t>Q: What is the single most actionable finding?</a:t>
            </a:r>
            <a:br/>
            <a:r>
              <a:rPr b="0">
                <a:solidFill>
                  <a:srgbClr val="1E293B"/>
                </a:solidFill>
              </a:rPr>
              <a:t>A: Pre-production plastic pellets (nurdles) create intense coastal hotspots that can be immediately mitigated if the IMO classifies pellets as hazardous cargo.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