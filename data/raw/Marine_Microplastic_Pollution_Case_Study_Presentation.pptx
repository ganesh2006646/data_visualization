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420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CSE355  ·  DATA VISUALIZATION CASE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43000"/>
            <a:ext cx="960120" cy="50292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417320"/>
            <a:ext cx="10881360" cy="4526280"/>
          </a:xfrm>
          <a:prstGeom prst="roundRect">
            <a:avLst/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691640"/>
            <a:ext cx="10241280" cy="4069080"/>
          </a:xfrm>
          <a:prstGeom prst="rect">
            <a:avLst/>
          </a:prstGeom>
          <a:noFill/>
        </p:spPr>
        <p:txBody>
          <a:bodyPr wrap="square" lIns="73152" tIns="54864" rIns="73152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  <a:defRPr sz="2400">
                <a:solidFill>
                  <a:srgbClr val="18334F"/>
                </a:solidFill>
                <a:latin typeface="Aptos"/>
              </a:defRPr>
            </a:pPr>
            <a:r>
              <a:t>GLOBAL MARINE MICROPLASTIC POLLUTION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2400">
                <a:solidFill>
                  <a:srgbClr val="18334F"/>
                </a:solidFill>
                <a:latin typeface="Aptos"/>
              </a:defRPr>
            </a:pPr>
            <a:r>
              <a:t>An ethical, bias-aware visualization study</a:t>
            </a:r>
          </a:p>
          <a:p>
            <a:pPr>
              <a:lnSpc>
                <a:spcPct val="112000"/>
              </a:lnSpc>
              <a:spcAft>
                <a:spcPts val="500"/>
              </a:spcAft>
              <a:defRPr sz="2400">
                <a:solidFill>
                  <a:srgbClr val="18334F"/>
                </a:solidFill>
                <a:latin typeface="Aptos"/>
              </a:defRPr>
            </a:pPr>
            <a:endParaRPr/>
          </a:p>
          <a:p>
            <a:pPr>
              <a:lnSpc>
                <a:spcPct val="112000"/>
              </a:lnSpc>
              <a:spcAft>
                <a:spcPts val="1100"/>
              </a:spcAft>
              <a:defRPr sz="2400">
                <a:solidFill>
                  <a:srgbClr val="18334F"/>
                </a:solidFill>
                <a:latin typeface="Aptos"/>
              </a:defRPr>
            </a:pPr>
            <a:r>
              <a:t>K. Ganesh Giridhar  ·  CB.SC.U4CSE24519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2400">
                <a:solidFill>
                  <a:srgbClr val="18334F"/>
                </a:solidFill>
                <a:latin typeface="Aptos"/>
              </a:defRPr>
            </a:pPr>
            <a:r>
              <a:t>CSE355  |  Amrita Vishwa Vidyapeetham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254496"/>
            <a:ext cx="9966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MARINE MICROPLASTICS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25449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46271"/>
                </a:solidFill>
                <a:latin typeface="Times New Roman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Problem Statement and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43000"/>
            <a:ext cx="960120" cy="50292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417320"/>
            <a:ext cx="10881360" cy="4526280"/>
          </a:xfrm>
          <a:prstGeom prst="roundRect">
            <a:avLst/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691640"/>
            <a:ext cx="10241280" cy="397763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  <a:defRPr sz="1200" b="0">
                <a:solidFill>
                  <a:srgbClr val="18334F"/>
                </a:solidFill>
                <a:latin typeface="Aptos"/>
              </a:defRPr>
            </a:pPr>
            <a:r>
              <a:t>BACKGROUND</a:t>
            </a:r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r>
              <a:t>Marine microplastic records come from different environments, locations and sampling protocols.</a:t>
            </a:r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endParaRPr/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r>
              <a:t>PROBLEM</a:t>
            </a:r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r>
              <a:t>How can global observations be visualized without confusing research effort with pollution patterns or comparing incompatible measurements?</a:t>
            </a:r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endParaRPr/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r>
              <a:t>OBJECTIVES</a:t>
            </a:r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r>
              <a:t>• Map observation coverage</a:t>
            </a:r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r>
              <a:t>• Describe time and setting patterns</a:t>
            </a:r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r>
              <a:t>• Compare concentrations within matching contexts</a:t>
            </a:r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r>
              <a:t>• Communicate limitations transparently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254496"/>
            <a:ext cx="9966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GLOBAL MARINE MICROPLASTICS  ·  CSE355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25449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46271"/>
                </a:solidFill>
                <a:latin typeface="Times New Roman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Dataset Description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43000"/>
            <a:ext cx="960120" cy="50292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417320"/>
            <a:ext cx="10881360" cy="4526280"/>
          </a:xfrm>
          <a:prstGeom prst="roundRect">
            <a:avLst/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241280" cy="281391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  <a:defRPr sz="1200" b="0">
                <a:solidFill>
                  <a:srgbClr val="18334F"/>
                </a:solidFill>
                <a:latin typeface="Aptos"/>
              </a:defRPr>
            </a:pPr>
            <a:r>
              <a:rPr sz="1600" b="1" dirty="0"/>
              <a:t>SOURCE</a:t>
            </a:r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r>
              <a:rPr sz="1600" dirty="0"/>
              <a:t>NOAA NCEI Global Marine Microplastics Database</a:t>
            </a:r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r>
              <a:rPr sz="1600" b="1" dirty="0"/>
              <a:t>DATA PROFILE</a:t>
            </a:r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r>
              <a:rPr sz="1600" dirty="0"/>
              <a:t>29,076 observations · 35 source columns · 20 Apr 1972–28 Apr 2026</a:t>
            </a:r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r>
              <a:rPr sz="1600" dirty="0"/>
              <a:t>Global coordinates; professional and citizen-science records</a:t>
            </a:r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r>
              <a:rPr sz="1600" b="1" dirty="0"/>
              <a:t>CORE FIELDS</a:t>
            </a:r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r>
              <a:rPr sz="1600" dirty="0"/>
              <a:t>Date · latitude/longitude · ocean · marine setting · method · mesh size · measurement · unit · concentration class</a:t>
            </a:r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r>
              <a:rPr sz="1600" b="1" dirty="0"/>
              <a:t>QUALITY RISKS</a:t>
            </a:r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r>
              <a:rPr sz="1600" dirty="0"/>
              <a:t>Missing metadata · uneven coverage · skewed measurements · incompatible units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254496"/>
            <a:ext cx="9966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GLOBAL MARINE MICROPLASTICS  ·  CSE355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25449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46271"/>
                </a:solidFill>
                <a:latin typeface="Times New Roman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251960"/>
            <a:ext cx="2011680" cy="1097280"/>
          </a:xfrm>
          <a:prstGeom prst="roundRect">
            <a:avLst/>
          </a:prstGeom>
          <a:solidFill>
            <a:srgbClr val="EAF3F6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78992" y="4343400"/>
            <a:ext cx="1682496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138A8A"/>
                </a:solidFill>
                <a:latin typeface="Aptos"/>
              </a:defRPr>
            </a:pPr>
            <a:r>
              <a:t>ROWS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4636008"/>
            <a:ext cx="168249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200" b="1">
                <a:solidFill>
                  <a:srgbClr val="18334F"/>
                </a:solidFill>
                <a:latin typeface="Aptos"/>
              </a:defRPr>
            </a:pPr>
            <a:r>
              <a:t>29,076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5084064"/>
            <a:ext cx="1682496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526574"/>
                </a:solidFill>
                <a:latin typeface="Aptos"/>
              </a:defRPr>
            </a:pPr>
            <a:r>
              <a:t>source observations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4251960"/>
            <a:ext cx="2011680" cy="1097280"/>
          </a:xfrm>
          <a:prstGeom prst="roundRect">
            <a:avLst/>
          </a:prstGeom>
          <a:solidFill>
            <a:srgbClr val="EAF3F6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27832" y="4370832"/>
            <a:ext cx="168249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138A8A"/>
                </a:solidFill>
                <a:latin typeface="Aptos"/>
              </a:defRPr>
            </a:pPr>
            <a:r>
              <a:t>COLUMNS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27832" y="4636008"/>
            <a:ext cx="168249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200" b="1">
                <a:solidFill>
                  <a:srgbClr val="18334F"/>
                </a:solidFill>
                <a:latin typeface="Aptos"/>
              </a:defRPr>
            </a:pPr>
            <a:r>
              <a:t>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7832" y="5084064"/>
            <a:ext cx="1682496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526574"/>
                </a:solidFill>
                <a:latin typeface="Aptos"/>
              </a:defRPr>
            </a:pPr>
            <a:r>
              <a:t>original fields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12080" y="4251960"/>
            <a:ext cx="2103120" cy="1097280"/>
          </a:xfrm>
          <a:prstGeom prst="roundRect">
            <a:avLst/>
          </a:prstGeom>
          <a:solidFill>
            <a:srgbClr val="EAF3F6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376672" y="4370832"/>
            <a:ext cx="17739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138A8A"/>
                </a:solidFill>
                <a:latin typeface="Aptos"/>
              </a:defRPr>
            </a:pPr>
            <a:r>
              <a:t>DATE SPAN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6672" y="4636008"/>
            <a:ext cx="177393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200" b="1">
                <a:solidFill>
                  <a:srgbClr val="18334F"/>
                </a:solidFill>
                <a:latin typeface="Aptos"/>
              </a:defRPr>
            </a:pPr>
            <a:r>
              <a:t>54 years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76672" y="5084064"/>
            <a:ext cx="1773936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526574"/>
                </a:solidFill>
                <a:latin typeface="Aptos"/>
              </a:defRPr>
            </a:pPr>
            <a:r>
              <a:t>1972–2026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Data Cleaning and Preprocessing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43000"/>
            <a:ext cx="960120" cy="50292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417320"/>
            <a:ext cx="10881360" cy="4526280"/>
          </a:xfrm>
          <a:prstGeom prst="roundRect">
            <a:avLst/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241280" cy="405527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r>
              <a:rPr sz="1600"/>
              <a:t>CHECKS COMPLETED ON SOURCE CSV</a:t>
            </a:r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r>
              <a:rPr sz="1600"/>
              <a:t>• 29,076 rows and 35 columns loaded</a:t>
            </a:r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r>
              <a:rPr sz="1600"/>
              <a:t>• Valid coordinate range checked for all rows: 29,076 pass basic numeric range checks</a:t>
            </a:r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r>
              <a:rPr sz="1600"/>
              <a:t>• Sample dates parsed; study range verified</a:t>
            </a:r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r>
              <a:rPr sz="1600"/>
              <a:t>• Exact duplicates and repeated IDs require separate checks</a:t>
            </a:r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endParaRPr sz="1600"/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r>
              <a:rPr sz="1600"/>
              <a:t>KEY RULES</a:t>
            </a:r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r>
              <a:rPr sz="1600"/>
              <a:t>• Keep raw CSV unchanged</a:t>
            </a:r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r>
              <a:rPr sz="1600"/>
              <a:t>• Inspect missingness by field and setting</a:t>
            </a:r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r>
              <a:rPr sz="1600"/>
              <a:t>• Standardize category labels and dates</a:t>
            </a:r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r>
              <a:rPr sz="1600"/>
              <a:t>• Retain legitimate repeat sampling locations</a:t>
            </a:r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r>
              <a:rPr sz="1600"/>
              <a:t>• Separate measurements by unit and context</a:t>
            </a:r>
          </a:p>
          <a:p>
            <a:pPr>
              <a:spcAft>
                <a:spcPts val="500"/>
              </a:spcAft>
              <a:defRPr sz="1200">
                <a:solidFill>
                  <a:srgbClr val="18334F"/>
                </a:solidFill>
                <a:latin typeface="Aptos"/>
              </a:defRPr>
            </a:pPr>
            <a:r>
              <a:rPr sz="1600"/>
              <a:t>• Do not remove extreme observations without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254496"/>
            <a:ext cx="9966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GLOBAL MARINE MICROPLASTICS  ·  CSE355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25449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46271"/>
                </a:solidFill>
                <a:latin typeface="Times New Roman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Tools and Visualization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43000"/>
            <a:ext cx="960120" cy="50292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417320"/>
            <a:ext cx="10881360" cy="4526280"/>
          </a:xfrm>
          <a:prstGeom prst="roundRect">
            <a:avLst/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241280" cy="212910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  <a:defRPr sz="1300">
                <a:solidFill>
                  <a:srgbClr val="18334F"/>
                </a:solidFill>
                <a:latin typeface="Aptos"/>
              </a:defRPr>
            </a:pPr>
            <a:r>
              <a:rPr sz="1600" dirty="0"/>
              <a:t>MATPLOTLIB  ·  Custom charts and annotations</a:t>
            </a:r>
          </a:p>
          <a:p>
            <a:pPr>
              <a:spcAft>
                <a:spcPts val="500"/>
              </a:spcAft>
              <a:defRPr sz="1300">
                <a:solidFill>
                  <a:srgbClr val="18334F"/>
                </a:solidFill>
                <a:latin typeface="Aptos"/>
              </a:defRPr>
            </a:pPr>
            <a:r>
              <a:rPr sz="1600" dirty="0"/>
              <a:t>SEABORN  ·  Statistical distributions and comparisons</a:t>
            </a:r>
          </a:p>
          <a:p>
            <a:pPr>
              <a:spcAft>
                <a:spcPts val="500"/>
              </a:spcAft>
              <a:defRPr sz="1300">
                <a:solidFill>
                  <a:srgbClr val="18334F"/>
                </a:solidFill>
                <a:latin typeface="Aptos"/>
              </a:defRPr>
            </a:pPr>
            <a:r>
              <a:rPr sz="1600" dirty="0"/>
              <a:t>POWER BI  ·  Interactive dashboard, slicers and drill-down</a:t>
            </a:r>
          </a:p>
          <a:p>
            <a:pPr>
              <a:spcAft>
                <a:spcPts val="500"/>
              </a:spcAft>
              <a:defRPr sz="1300">
                <a:solidFill>
                  <a:srgbClr val="18334F"/>
                </a:solidFill>
                <a:latin typeface="Aptos"/>
              </a:defRPr>
            </a:pPr>
            <a:endParaRPr sz="1600" dirty="0"/>
          </a:p>
          <a:p>
            <a:pPr>
              <a:spcAft>
                <a:spcPts val="500"/>
              </a:spcAft>
              <a:defRPr sz="1300">
                <a:solidFill>
                  <a:srgbClr val="18334F"/>
                </a:solidFill>
                <a:latin typeface="Aptos"/>
              </a:defRPr>
            </a:pPr>
            <a:r>
              <a:rPr sz="1600" dirty="0"/>
              <a:t>VISUAL PLAN</a:t>
            </a:r>
          </a:p>
          <a:p>
            <a:pPr>
              <a:spcAft>
                <a:spcPts val="500"/>
              </a:spcAft>
              <a:defRPr sz="1300">
                <a:solidFill>
                  <a:srgbClr val="18334F"/>
                </a:solidFill>
                <a:latin typeface="Aptos"/>
              </a:defRPr>
            </a:pPr>
            <a:r>
              <a:rPr sz="1600" dirty="0"/>
              <a:t>Spatial map · annual record trend · missingness profile · measurement-unit profile · ocean-water distribution · marine-setting comparison · method/mesh analysis · concentration-class composition · ethical redesign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254496"/>
            <a:ext cx="9966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GLOBAL MARINE MICROPLASTICS  ·  CSE355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25449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46271"/>
                </a:solidFill>
                <a:latin typeface="Times New Roman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Exploratory Data Analysis – I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43000"/>
            <a:ext cx="960120" cy="50292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417320"/>
            <a:ext cx="10881360" cy="4526280"/>
          </a:xfrm>
          <a:prstGeom prst="roundRect">
            <a:avLst/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46320" cy="347472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  <a:defRPr sz="1400" b="0">
                <a:solidFill>
                  <a:srgbClr val="18334F"/>
                </a:solidFill>
                <a:latin typeface="Aptos"/>
              </a:defRPr>
            </a:pPr>
            <a:r>
              <a:t>V1  ·  OBSERVATIONS BY OCEAN</a:t>
            </a:r>
          </a:p>
          <a:p>
            <a:pPr>
              <a:spcAft>
                <a:spcPts val="500"/>
              </a:spcAft>
              <a:defRPr sz="1400" b="0">
                <a:solidFill>
                  <a:srgbClr val="18334F"/>
                </a:solidFill>
                <a:latin typeface="Aptos"/>
              </a:defRPr>
            </a:pPr>
            <a:r>
              <a:t>Record counts vary widely among ocean basins. Counts describe sampling coverage—not pollution intensity.</a:t>
            </a:r>
          </a:p>
          <a:p>
            <a:pPr>
              <a:spcAft>
                <a:spcPts val="500"/>
              </a:spcAft>
              <a:defRPr sz="1400" b="0">
                <a:solidFill>
                  <a:srgbClr val="18334F"/>
                </a:solidFill>
                <a:latin typeface="Aptos"/>
              </a:defRPr>
            </a:pPr>
            <a:endParaRPr/>
          </a:p>
          <a:p>
            <a:pPr>
              <a:spcAft>
                <a:spcPts val="500"/>
              </a:spcAft>
              <a:defRPr sz="1400" b="0">
                <a:solidFill>
                  <a:srgbClr val="18334F"/>
                </a:solidFill>
                <a:latin typeface="Aptos"/>
              </a:defRPr>
            </a:pPr>
            <a:r>
              <a:t>V2  ·  OBSERVATIONS OVER TIME</a:t>
            </a:r>
          </a:p>
          <a:p>
            <a:pPr>
              <a:spcAft>
                <a:spcPts val="500"/>
              </a:spcAft>
              <a:defRPr sz="1400" b="0">
                <a:solidFill>
                  <a:srgbClr val="18334F"/>
                </a:solidFill>
                <a:latin typeface="Aptos"/>
              </a:defRPr>
            </a:pPr>
            <a:r>
              <a:t>The annual series shows when records were collected. It must not be interpreted as a pollution trend on its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254496"/>
            <a:ext cx="9966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GLOBAL MARINE MICROPLASTICS  ·  CSE355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25449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46271"/>
                </a:solidFill>
                <a:latin typeface="Times New Roman"/>
              </a:defRPr>
            </a:pPr>
            <a:r>
              <a:t>6</a:t>
            </a:r>
          </a:p>
        </p:txBody>
      </p:sp>
      <p:pic>
        <p:nvPicPr>
          <p:cNvPr id="9" name="Picture 8" descr="observations_oc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227035"/>
            <a:ext cx="5212080" cy="26325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Exploratory Data Analysis – 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43000"/>
            <a:ext cx="960120" cy="50292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417320"/>
            <a:ext cx="10881360" cy="4526280"/>
          </a:xfrm>
          <a:prstGeom prst="roundRect">
            <a:avLst/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444752"/>
            <a:ext cx="10469880" cy="4526280"/>
          </a:xfrm>
          <a:prstGeom prst="rect">
            <a:avLst/>
          </a:prstGeom>
          <a:noFill/>
        </p:spPr>
        <p:txBody>
          <a:bodyPr wrap="square" lIns="73152" tIns="54864" rIns="73152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18334F"/>
                </a:solidFill>
                <a:latin typeface="Aptos"/>
              </a:defRPr>
            </a:pPr>
            <a:r>
              <a:t>V3  ·  DATA COMPLETENESS</a:t>
            </a:r>
          </a:p>
          <a:p>
            <a:pPr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18334F"/>
                </a:solidFill>
                <a:latin typeface="Aptos"/>
              </a:defRPr>
            </a:pPr>
            <a:r>
              <a:t>Missingness is concentrated in selected metadata fields; missing values need field-specific treatment rather than blanket row deletion.</a:t>
            </a:r>
          </a:p>
          <a:p>
            <a:pPr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18334F"/>
                </a:solidFill>
                <a:latin typeface="Aptos"/>
              </a:defRPr>
            </a:pPr>
            <a:endParaRPr/>
          </a:p>
          <a:p>
            <a:pPr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18334F"/>
                </a:solidFill>
                <a:latin typeface="Aptos"/>
              </a:defRPr>
            </a:pPr>
            <a:r>
              <a:t>V4  ·  MEASUREMENT UNITS</a:t>
            </a:r>
          </a:p>
          <a:p>
            <a:pPr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18334F"/>
                </a:solidFill>
                <a:latin typeface="Aptos"/>
              </a:defRPr>
            </a:pPr>
            <a:r>
              <a:t>Three distinct units occur in the source file. Numerical concentrations must be analyzed separately by unit and sampling context.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254496"/>
            <a:ext cx="9966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GLOBAL MARINE MICROPLASTICS  ·  CSE355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25449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46271"/>
                </a:solidFill>
                <a:latin typeface="Times New Roman"/>
              </a:defRPr>
            </a:pPr>
            <a:r>
              <a:t>7</a:t>
            </a:r>
          </a:p>
        </p:txBody>
      </p:sp>
      <p:pic>
        <p:nvPicPr>
          <p:cNvPr id="9" name="Picture 8" descr="missing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945" y="3703320"/>
            <a:ext cx="3841229" cy="1828800"/>
          </a:xfrm>
          <a:prstGeom prst="rect">
            <a:avLst/>
          </a:prstGeom>
        </p:spPr>
      </p:pic>
      <p:pic>
        <p:nvPicPr>
          <p:cNvPr id="10" name="Picture 9" descr="un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407" y="3703320"/>
            <a:ext cx="3939025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Exploratory Data Analysis – III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43000"/>
            <a:ext cx="960120" cy="50292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417320"/>
            <a:ext cx="10881360" cy="4526280"/>
          </a:xfrm>
          <a:prstGeom prst="roundRect">
            <a:avLst/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444752"/>
            <a:ext cx="10469880" cy="4526280"/>
          </a:xfrm>
          <a:prstGeom prst="rect">
            <a:avLst/>
          </a:prstGeom>
          <a:noFill/>
        </p:spPr>
        <p:txBody>
          <a:bodyPr wrap="square" lIns="73152" tIns="54864" rIns="73152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18334F"/>
                </a:solidFill>
                <a:latin typeface="Aptos"/>
              </a:defRPr>
            </a:pPr>
            <a:r>
              <a:t>V5  ·  MARINE SETTINGS</a:t>
            </a:r>
          </a:p>
          <a:p>
            <a:pPr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18334F"/>
                </a:solidFill>
                <a:latin typeface="Aptos"/>
              </a:defRPr>
            </a:pPr>
            <a:r>
              <a:t>Ocean water and Nurdle Patrol account for most records in the downloaded collection; beach and sediment records are much smaller groups.</a:t>
            </a:r>
          </a:p>
          <a:p>
            <a:pPr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18334F"/>
                </a:solidFill>
                <a:latin typeface="Aptos"/>
              </a:defRPr>
            </a:pPr>
            <a:endParaRPr/>
          </a:p>
          <a:p>
            <a:pPr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18334F"/>
                </a:solidFill>
                <a:latin typeface="Aptos"/>
              </a:defRPr>
            </a:pPr>
            <a:r>
              <a:t>V6  ·  COMPARABLE CONCENTRATION VIEW</a:t>
            </a:r>
          </a:p>
          <a:p>
            <a:pPr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18334F"/>
                </a:solidFill>
                <a:latin typeface="Aptos"/>
              </a:defRPr>
            </a:pPr>
            <a:r>
              <a:t>The boxplot uses Ocean water records reported in pieces/m³ only. It is a within-context comparison, not a ranking of total ocean pollution.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254496"/>
            <a:ext cx="9966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GLOBAL MARINE MICROPLASTICS  ·  CSE355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25449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46271"/>
                </a:solidFill>
                <a:latin typeface="Times New Roman"/>
              </a:defRPr>
            </a:pPr>
            <a:r>
              <a:t>8</a:t>
            </a:r>
          </a:p>
        </p:txBody>
      </p:sp>
      <p:pic>
        <p:nvPicPr>
          <p:cNvPr id="9" name="Picture 8" descr="marine_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925" y="3703320"/>
            <a:ext cx="4009269" cy="1828800"/>
          </a:xfrm>
          <a:prstGeom prst="rect">
            <a:avLst/>
          </a:prstGeom>
        </p:spPr>
      </p:pic>
      <p:pic>
        <p:nvPicPr>
          <p:cNvPr id="10" name="Picture 9" descr="water_box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926" y="3703320"/>
            <a:ext cx="3919987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Interactive Dashboard – Exploration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43000"/>
            <a:ext cx="960120" cy="50292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417320"/>
            <a:ext cx="10881360" cy="4526280"/>
          </a:xfrm>
          <a:prstGeom prst="roundRect">
            <a:avLst/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241280" cy="228600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  <a:defRPr sz="1200" b="0">
                <a:solidFill>
                  <a:srgbClr val="18334F"/>
                </a:solidFill>
                <a:latin typeface="Aptos"/>
              </a:defRPr>
            </a:pPr>
            <a:r>
              <a:t>INTERACTIVE EXPERIENCE</a:t>
            </a:r>
          </a:p>
          <a:p>
            <a:pPr>
              <a:spcAft>
                <a:spcPts val="500"/>
              </a:spcAft>
              <a:defRPr sz="1200" b="0">
                <a:solidFill>
                  <a:srgbClr val="18334F"/>
                </a:solidFill>
                <a:latin typeface="Aptos"/>
              </a:defRPr>
            </a:pPr>
            <a:r>
              <a:t>The repository includes an interactive HTML dashboard with map and chart views, plus Power BI project assets.</a:t>
            </a:r>
          </a:p>
          <a:p>
            <a:pPr>
              <a:spcAft>
                <a:spcPts val="500"/>
              </a:spcAft>
              <a:defRPr sz="1200" b="0">
                <a:solidFill>
                  <a:srgbClr val="18334F"/>
                </a:solidFill>
                <a:latin typeface="Aptos"/>
              </a:defRPr>
            </a:pPr>
            <a:endParaRPr/>
          </a:p>
          <a:p>
            <a:pPr>
              <a:spcAft>
                <a:spcPts val="500"/>
              </a:spcAft>
              <a:defRPr sz="1200" b="0">
                <a:solidFill>
                  <a:srgbClr val="18334F"/>
                </a:solidFill>
                <a:latin typeface="Aptos"/>
              </a:defRPr>
            </a:pPr>
            <a:r>
              <a:t>CONTROLS</a:t>
            </a:r>
          </a:p>
          <a:p>
            <a:pPr>
              <a:spcAft>
                <a:spcPts val="500"/>
              </a:spcAft>
              <a:defRPr sz="1200" b="0">
                <a:solidFill>
                  <a:srgbClr val="18334F"/>
                </a:solidFill>
                <a:latin typeface="Aptos"/>
              </a:defRPr>
            </a:pPr>
            <a:r>
              <a:t>Ocean · marine setting · year range · mesh size · organization search</a:t>
            </a:r>
          </a:p>
          <a:p>
            <a:pPr>
              <a:spcAft>
                <a:spcPts val="500"/>
              </a:spcAft>
              <a:defRPr sz="1200" b="0">
                <a:solidFill>
                  <a:srgbClr val="18334F"/>
                </a:solidFill>
                <a:latin typeface="Aptos"/>
              </a:defRPr>
            </a:pPr>
            <a:endParaRPr/>
          </a:p>
          <a:p>
            <a:pPr>
              <a:spcAft>
                <a:spcPts val="500"/>
              </a:spcAft>
              <a:defRPr sz="1200" b="0">
                <a:solidFill>
                  <a:srgbClr val="18334F"/>
                </a:solidFill>
                <a:latin typeface="Aptos"/>
              </a:defRPr>
            </a:pPr>
            <a:r>
              <a:t>STORY</a:t>
            </a:r>
          </a:p>
          <a:p>
            <a:pPr>
              <a:spcAft>
                <a:spcPts val="500"/>
              </a:spcAft>
              <a:defRPr sz="1200" b="0">
                <a:solidFill>
                  <a:srgbClr val="18334F"/>
                </a:solidFill>
                <a:latin typeface="Aptos"/>
              </a:defRPr>
            </a:pPr>
            <a:r>
              <a:t>Map coverage → compare basins → examine concentration context → inspect methods and ethical interpretation.</a:t>
            </a:r>
          </a:p>
          <a:p>
            <a:pPr>
              <a:spcAft>
                <a:spcPts val="500"/>
              </a:spcAft>
              <a:defRPr sz="1200" b="0">
                <a:solidFill>
                  <a:srgbClr val="18334F"/>
                </a:solidFill>
                <a:latin typeface="Aptos"/>
              </a:defRPr>
            </a:pPr>
            <a:endParaRPr/>
          </a:p>
          <a:p>
            <a:pPr>
              <a:spcAft>
                <a:spcPts val="500"/>
              </a:spcAft>
              <a:defRPr sz="1200" b="0">
                <a:solidFill>
                  <a:srgbClr val="18334F"/>
                </a:solidFill>
                <a:latin typeface="Aptos"/>
              </a:defRPr>
            </a:pPr>
            <a:r>
              <a:t>Delivery note: verify the Power BI project in Desktop before claiming a finished .pbix file.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254496"/>
            <a:ext cx="9966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GLOBAL MARINE MICROPLASTICS  ·  CSE355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25449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46271"/>
                </a:solidFill>
                <a:latin typeface="Times New Roman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4018788"/>
            <a:ext cx="2103120" cy="1005840"/>
          </a:xfrm>
          <a:prstGeom prst="roundRect">
            <a:avLst/>
          </a:prstGeom>
          <a:solidFill>
            <a:srgbClr val="EAF3F6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78992" y="4434840"/>
            <a:ext cx="1773936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138A8A"/>
                </a:solidFill>
                <a:latin typeface="Aptos"/>
              </a:defRPr>
            </a:pPr>
            <a:r>
              <a:t>NAVIGATION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4556831"/>
            <a:ext cx="1773936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200" b="1">
                <a:solidFill>
                  <a:srgbClr val="18334F"/>
                </a:solidFill>
                <a:latin typeface="Aptos"/>
              </a:defRPr>
            </a:pPr>
            <a:r>
              <a:rPr sz="2000" dirty="0"/>
              <a:t>4 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4901184"/>
            <a:ext cx="1773936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526574"/>
                </a:solidFill>
                <a:latin typeface="Aptos"/>
              </a:defRPr>
            </a:pPr>
            <a:r>
              <a:t>overview · basins · methods · ethics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4053911"/>
            <a:ext cx="2103120" cy="1005840"/>
          </a:xfrm>
          <a:prstGeom prst="roundRect">
            <a:avLst/>
          </a:prstGeom>
          <a:solidFill>
            <a:srgbClr val="EAF3F6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64992" y="4434840"/>
            <a:ext cx="1773936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138A8A"/>
                </a:solidFill>
                <a:latin typeface="Aptos"/>
              </a:defRPr>
            </a:pPr>
            <a:r>
              <a:t>FILTERS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4556831"/>
            <a:ext cx="177393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200" b="1">
                <a:solidFill>
                  <a:srgbClr val="18334F"/>
                </a:solidFill>
                <a:latin typeface="Aptos"/>
              </a:defRPr>
            </a:pPr>
            <a:r>
              <a:rPr dirty="0"/>
              <a:t>5 controls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4992" y="4901184"/>
            <a:ext cx="1773936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526574"/>
                </a:solidFill>
                <a:latin typeface="Aptos"/>
              </a:defRPr>
            </a:pPr>
            <a:r>
              <a:t>year · ocean · setting · mesh · org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0" y="4069080"/>
            <a:ext cx="2103120" cy="1005840"/>
          </a:xfrm>
          <a:prstGeom prst="roundRect">
            <a:avLst/>
          </a:prstGeom>
          <a:solidFill>
            <a:srgbClr val="EAF3F6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50992" y="4434840"/>
            <a:ext cx="1773936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138A8A"/>
                </a:solidFill>
                <a:latin typeface="Aptos"/>
              </a:defRPr>
            </a:pPr>
            <a:r>
              <a:t>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4543891"/>
            <a:ext cx="177393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200" b="1">
                <a:solidFill>
                  <a:srgbClr val="18334F"/>
                </a:solidFill>
                <a:latin typeface="Aptos"/>
              </a:defRPr>
            </a:pPr>
            <a:r>
              <a:rPr dirty="0"/>
              <a:t>Global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50992" y="4901184"/>
            <a:ext cx="1773936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526574"/>
                </a:solidFill>
                <a:latin typeface="Aptos"/>
              </a:defRPr>
            </a:pPr>
            <a:r>
              <a:t>hover for observation details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0" y="4069080"/>
            <a:ext cx="2651760" cy="1005840"/>
          </a:xfrm>
          <a:prstGeom prst="roundRect">
            <a:avLst/>
          </a:prstGeom>
          <a:solidFill>
            <a:srgbClr val="EAF3F6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36992" y="4434840"/>
            <a:ext cx="2322576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138A8A"/>
                </a:solidFill>
                <a:latin typeface="Aptos"/>
              </a:defRPr>
            </a:pPr>
            <a:r>
              <a:t>ANALYTICS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36992" y="4542198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200" b="1">
                <a:solidFill>
                  <a:srgbClr val="18334F"/>
                </a:solidFill>
                <a:latin typeface="Aptos"/>
              </a:defRPr>
            </a:pPr>
            <a:r>
              <a:rPr dirty="0"/>
              <a:t>Unit-aware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36992" y="4901184"/>
            <a:ext cx="2322576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526574"/>
                </a:solidFill>
                <a:latin typeface="Aptos"/>
              </a:defRPr>
            </a:pPr>
            <a:r>
              <a:t>separate concentration contexts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Dashboard Insights and Data Storytelling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43000"/>
            <a:ext cx="960120" cy="50292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417320"/>
            <a:ext cx="10881360" cy="4526280"/>
          </a:xfrm>
          <a:prstGeom prst="roundRect">
            <a:avLst/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444752"/>
            <a:ext cx="10469880" cy="3110147"/>
          </a:xfrm>
          <a:prstGeom prst="rect">
            <a:avLst/>
          </a:prstGeom>
          <a:noFill/>
        </p:spPr>
        <p:txBody>
          <a:bodyPr wrap="square" lIns="73152" tIns="54864" rIns="73152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18334F"/>
                </a:solidFill>
                <a:latin typeface="Aptos"/>
              </a:defRPr>
            </a:pPr>
            <a:r>
              <a:rPr sz="1600" dirty="0"/>
              <a:t>WHAT?</a:t>
            </a:r>
          </a:p>
          <a:p>
            <a:pPr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18334F"/>
                </a:solidFill>
                <a:latin typeface="Aptos"/>
              </a:defRPr>
            </a:pPr>
            <a:r>
              <a:rPr sz="1600" dirty="0"/>
              <a:t>Observation records are not evenly distributed across oceans or years.</a:t>
            </a:r>
          </a:p>
          <a:p>
            <a:pPr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18334F"/>
                </a:solidFill>
                <a:latin typeface="Aptos"/>
              </a:defRPr>
            </a:pPr>
            <a:endParaRPr sz="1600" dirty="0"/>
          </a:p>
          <a:p>
            <a:pPr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18334F"/>
                </a:solidFill>
                <a:latin typeface="Aptos"/>
              </a:defRPr>
            </a:pPr>
            <a:r>
              <a:rPr sz="1600" dirty="0"/>
              <a:t>SO WHAT?</a:t>
            </a:r>
          </a:p>
          <a:p>
            <a:pPr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18334F"/>
                </a:solidFill>
                <a:latin typeface="Aptos"/>
              </a:defRPr>
            </a:pPr>
            <a:r>
              <a:rPr sz="1600" dirty="0"/>
              <a:t>A heavily sampled basin may dominate the map even if sampling density does not represent its true pollution level.</a:t>
            </a:r>
          </a:p>
          <a:p>
            <a:pPr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18334F"/>
                </a:solidFill>
                <a:latin typeface="Aptos"/>
              </a:defRPr>
            </a:pPr>
            <a:endParaRPr sz="1600" dirty="0"/>
          </a:p>
          <a:p>
            <a:pPr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18334F"/>
                </a:solidFill>
                <a:latin typeface="Aptos"/>
              </a:defRPr>
            </a:pPr>
            <a:r>
              <a:rPr sz="1600" dirty="0"/>
              <a:t>NOW WHAT?</a:t>
            </a:r>
          </a:p>
          <a:p>
            <a:pPr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18334F"/>
                </a:solidFill>
                <a:latin typeface="Aptos"/>
              </a:defRPr>
            </a:pPr>
            <a:r>
              <a:rPr sz="1600" dirty="0"/>
              <a:t>Show sample counts next to concentration summaries, filter to comparable measurement contexts and flag low-coverage regions.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254496"/>
            <a:ext cx="9966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GLOBAL MARINE MICROPLASTICS  ·  CSE355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25449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46271"/>
                </a:solidFill>
                <a:latin typeface="Times New Roman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Misleading Visualization and Ethical Redesign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43000"/>
            <a:ext cx="960120" cy="50292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417320"/>
            <a:ext cx="10881360" cy="4526280"/>
          </a:xfrm>
          <a:prstGeom prst="roundRect">
            <a:avLst/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0332720" cy="201168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  <a:defRPr sz="1200" b="0">
                <a:solidFill>
                  <a:srgbClr val="18334F"/>
                </a:solidFill>
                <a:latin typeface="Aptos"/>
              </a:defRPr>
            </a:pPr>
            <a:r>
              <a:t>MISLEADING VIEW</a:t>
            </a:r>
          </a:p>
          <a:p>
            <a:pPr>
              <a:spcAft>
                <a:spcPts val="500"/>
              </a:spcAft>
              <a:defRPr sz="1200" b="0">
                <a:solidFill>
                  <a:srgbClr val="18334F"/>
                </a:solidFill>
                <a:latin typeface="Aptos"/>
              </a:defRPr>
            </a:pPr>
            <a:r>
              <a:t>A truncated vertical axis can make a modest difference look dramatic.</a:t>
            </a:r>
          </a:p>
          <a:p>
            <a:pPr>
              <a:spcAft>
                <a:spcPts val="500"/>
              </a:spcAft>
              <a:defRPr sz="1200" b="0">
                <a:solidFill>
                  <a:srgbClr val="18334F"/>
                </a:solidFill>
                <a:latin typeface="Aptos"/>
              </a:defRPr>
            </a:pPr>
            <a:endParaRPr/>
          </a:p>
          <a:p>
            <a:pPr>
              <a:spcAft>
                <a:spcPts val="500"/>
              </a:spcAft>
              <a:defRPr sz="1200" b="0">
                <a:solidFill>
                  <a:srgbClr val="18334F"/>
                </a:solidFill>
                <a:latin typeface="Aptos"/>
              </a:defRPr>
            </a:pPr>
            <a:r>
              <a:t>ETHICAL REDESIGN</a:t>
            </a:r>
          </a:p>
          <a:p>
            <a:pPr>
              <a:spcAft>
                <a:spcPts val="500"/>
              </a:spcAft>
              <a:defRPr sz="1200" b="0">
                <a:solidFill>
                  <a:srgbClr val="18334F"/>
                </a:solidFill>
                <a:latin typeface="Aptos"/>
              </a:defRPr>
            </a:pPr>
            <a:r>
              <a:t>Use a clearly labelled scale, show sample sizes and spread, keep units explicit and avoid causal claims.</a:t>
            </a:r>
          </a:p>
          <a:p>
            <a:pPr>
              <a:spcAft>
                <a:spcPts val="500"/>
              </a:spcAft>
              <a:defRPr sz="1200" b="0">
                <a:solidFill>
                  <a:srgbClr val="18334F"/>
                </a:solidFill>
                <a:latin typeface="Aptos"/>
              </a:defRPr>
            </a:pPr>
            <a:endParaRPr/>
          </a:p>
          <a:p>
            <a:pPr>
              <a:spcAft>
                <a:spcPts val="500"/>
              </a:spcAft>
              <a:defRPr sz="1200" b="0">
                <a:solidFill>
                  <a:srgbClr val="18334F"/>
                </a:solidFill>
                <a:latin typeface="Aptos"/>
              </a:defRPr>
            </a:pPr>
            <a:r>
              <a:t>The paired chart below is an illustrative axis demonstration, not a NOAA finding.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254496"/>
            <a:ext cx="9966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GLOBAL MARINE MICROPLASTICS  ·  CSE355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25449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46271"/>
                </a:solidFill>
                <a:latin typeface="Times New Roman"/>
              </a:defRPr>
            </a:pPr>
            <a:r>
              <a:t>11</a:t>
            </a:r>
          </a:p>
        </p:txBody>
      </p:sp>
      <p:pic>
        <p:nvPicPr>
          <p:cNvPr id="9" name="Picture 8" descr="ethical_re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611880"/>
            <a:ext cx="6400800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0" y="3977639"/>
            <a:ext cx="3017520" cy="12801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26574"/>
                </a:solidFill>
                <a:latin typeface="Aptos"/>
              </a:defRPr>
            </a:pPr>
            <a:r>
              <a:t>Same values.</a:t>
            </a:r>
          </a:p>
          <a:p>
            <a:pPr>
              <a:spcAft>
                <a:spcPts val="500"/>
              </a:spcAft>
              <a:defRPr sz="1100" b="0">
                <a:solidFill>
                  <a:srgbClr val="526574"/>
                </a:solidFill>
                <a:latin typeface="Aptos"/>
              </a:defRPr>
            </a:pPr>
            <a:r>
              <a:t>Different visual impression.</a:t>
            </a:r>
          </a:p>
          <a:p>
            <a:pPr>
              <a:spcAft>
                <a:spcPts val="500"/>
              </a:spcAft>
              <a:defRPr sz="1100" b="0">
                <a:solidFill>
                  <a:srgbClr val="526574"/>
                </a:solidFill>
                <a:latin typeface="Aptos"/>
              </a:defRPr>
            </a:pPr>
            <a:endParaRPr/>
          </a:p>
          <a:p>
            <a:pPr>
              <a:spcAft>
                <a:spcPts val="500"/>
              </a:spcAft>
              <a:defRPr sz="1100" b="0">
                <a:solidFill>
                  <a:srgbClr val="526574"/>
                </a:solidFill>
                <a:latin typeface="Aptos"/>
              </a:defRPr>
            </a:pPr>
            <a:r>
              <a:t>Illustrative example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Key Findings and Insights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43000"/>
            <a:ext cx="960120" cy="50292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417320"/>
            <a:ext cx="10881360" cy="4526280"/>
          </a:xfrm>
          <a:prstGeom prst="roundRect">
            <a:avLst/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508760"/>
            <a:ext cx="10241280" cy="256032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  <a:defRPr sz="1300" b="0">
                <a:solidFill>
                  <a:srgbClr val="18334F"/>
                </a:solidFill>
                <a:latin typeface="Aptos"/>
              </a:defRPr>
            </a:pPr>
            <a:r>
              <a:t>1  ·  COVERAGE IS UNEVEN</a:t>
            </a:r>
          </a:p>
          <a:p>
            <a:pPr>
              <a:spcAft>
                <a:spcPts val="500"/>
              </a:spcAft>
              <a:defRPr sz="1300" b="0">
                <a:solidFill>
                  <a:srgbClr val="18334F"/>
                </a:solidFill>
                <a:latin typeface="Aptos"/>
              </a:defRPr>
            </a:pPr>
            <a:r>
              <a:t>Ocean and year counts show where observations exist—not a direct estimate of pollution.</a:t>
            </a:r>
          </a:p>
          <a:p>
            <a:pPr>
              <a:spcAft>
                <a:spcPts val="500"/>
              </a:spcAft>
              <a:defRPr sz="1300" b="0">
                <a:solidFill>
                  <a:srgbClr val="18334F"/>
                </a:solidFill>
                <a:latin typeface="Aptos"/>
              </a:defRPr>
            </a:pPr>
            <a:endParaRPr/>
          </a:p>
          <a:p>
            <a:pPr>
              <a:spcAft>
                <a:spcPts val="500"/>
              </a:spcAft>
              <a:defRPr sz="1300" b="0">
                <a:solidFill>
                  <a:srgbClr val="18334F"/>
                </a:solidFill>
                <a:latin typeface="Aptos"/>
              </a:defRPr>
            </a:pPr>
            <a:r>
              <a:t>2  ·  MEASUREMENTS ARE HETEROGENEOUS</a:t>
            </a:r>
          </a:p>
          <a:p>
            <a:pPr>
              <a:spcAft>
                <a:spcPts val="500"/>
              </a:spcAft>
              <a:defRPr sz="1300" b="0">
                <a:solidFill>
                  <a:srgbClr val="18334F"/>
                </a:solidFill>
                <a:latin typeface="Aptos"/>
              </a:defRPr>
            </a:pPr>
            <a:r>
              <a:t>Pieces/m³, pieces/10 minutes and pieces/kg dry weight are not interchangeable.</a:t>
            </a:r>
          </a:p>
          <a:p>
            <a:pPr>
              <a:spcAft>
                <a:spcPts val="500"/>
              </a:spcAft>
              <a:defRPr sz="1300" b="0">
                <a:solidFill>
                  <a:srgbClr val="18334F"/>
                </a:solidFill>
                <a:latin typeface="Aptos"/>
              </a:defRPr>
            </a:pPr>
            <a:endParaRPr/>
          </a:p>
          <a:p>
            <a:pPr>
              <a:spcAft>
                <a:spcPts val="500"/>
              </a:spcAft>
              <a:defRPr sz="1300" b="0">
                <a:solidFill>
                  <a:srgbClr val="18334F"/>
                </a:solidFill>
                <a:latin typeface="Aptos"/>
              </a:defRPr>
            </a:pPr>
            <a:r>
              <a:t>3  ·  CONTEXT MATTERS</a:t>
            </a:r>
          </a:p>
          <a:p>
            <a:pPr>
              <a:spcAft>
                <a:spcPts val="500"/>
              </a:spcAft>
              <a:defRPr sz="1300" b="0">
                <a:solidFill>
                  <a:srgbClr val="18334F"/>
                </a:solidFill>
                <a:latin typeface="Aptos"/>
              </a:defRPr>
            </a:pPr>
            <a:r>
              <a:t>Marine setting and sampling method must accompany concentration comparisons.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254496"/>
            <a:ext cx="9966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GLOBAL MARINE MICROPLASTICS  ·  CSE355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25449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46271"/>
                </a:solidFill>
                <a:latin typeface="Times New Roman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4389120"/>
            <a:ext cx="3063240" cy="1005840"/>
          </a:xfrm>
          <a:prstGeom prst="roundRect">
            <a:avLst/>
          </a:prstGeom>
          <a:solidFill>
            <a:srgbClr val="EAF3F6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24712" y="4617720"/>
            <a:ext cx="2734056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138A8A"/>
                </a:solidFill>
                <a:latin typeface="Aptos"/>
              </a:defRPr>
            </a:pPr>
            <a:r>
              <a:t>KEY CAUTION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4773168"/>
            <a:ext cx="273405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200" b="1">
                <a:solidFill>
                  <a:srgbClr val="18334F"/>
                </a:solidFill>
                <a:latin typeface="Aptos"/>
              </a:defRPr>
            </a:pPr>
            <a:r>
              <a:t>Count ≠ pollution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" y="5221224"/>
            <a:ext cx="2734056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526574"/>
                </a:solidFill>
                <a:latin typeface="Aptos"/>
              </a:defRPr>
            </a:pPr>
            <a:r>
              <a:t>sampling effort affects observed density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389120"/>
            <a:ext cx="3063240" cy="1005840"/>
          </a:xfrm>
          <a:prstGeom prst="roundRect">
            <a:avLst/>
          </a:prstGeom>
          <a:solidFill>
            <a:srgbClr val="EAF3F6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16552" y="4617720"/>
            <a:ext cx="2734056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138A8A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4773168"/>
            <a:ext cx="273405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200" b="1">
                <a:solidFill>
                  <a:srgbClr val="18334F"/>
                </a:solidFill>
                <a:latin typeface="Aptos"/>
              </a:defRPr>
            </a:pPr>
            <a:r>
              <a:t>3 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5221224"/>
            <a:ext cx="2734056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526574"/>
                </a:solidFill>
                <a:latin typeface="Aptos"/>
              </a:defRPr>
            </a:pPr>
            <a:r>
              <a:t>never combine on one numeric axis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43800" y="4389120"/>
            <a:ext cx="3063240" cy="1005840"/>
          </a:xfrm>
          <a:prstGeom prst="roundRect">
            <a:avLst/>
          </a:prstGeom>
          <a:solidFill>
            <a:srgbClr val="EAF3F6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08392" y="4617720"/>
            <a:ext cx="2734056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138A8A"/>
                </a:solidFill>
                <a:latin typeface="Aptos"/>
              </a:defRPr>
            </a:pPr>
            <a:r>
              <a:t>BEST PRACTICE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8392" y="4773168"/>
            <a:ext cx="273405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200" b="1">
                <a:solidFill>
                  <a:srgbClr val="18334F"/>
                </a:solidFill>
                <a:latin typeface="Aptos"/>
              </a:defRPr>
            </a:pPr>
            <a:r>
              <a:t>Show 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08392" y="5221224"/>
            <a:ext cx="2734056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526574"/>
                </a:solidFill>
                <a:latin typeface="Aptos"/>
              </a:defRPr>
            </a:pPr>
            <a:r>
              <a:t>setting · method · sample size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Recommendations and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43000"/>
            <a:ext cx="960120" cy="50292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417320"/>
            <a:ext cx="10881360" cy="4526280"/>
          </a:xfrm>
          <a:prstGeom prst="roundRect">
            <a:avLst/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241280" cy="41605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  <a:defRPr sz="1300">
                <a:solidFill>
                  <a:srgbClr val="18334F"/>
                </a:solidFill>
                <a:latin typeface="Aptos"/>
              </a:defRPr>
            </a:pPr>
            <a:r>
              <a:t>RECOMMENDATIONS</a:t>
            </a:r>
          </a:p>
          <a:p>
            <a:pPr>
              <a:spcAft>
                <a:spcPts val="500"/>
              </a:spcAft>
              <a:defRPr sz="1300">
                <a:solidFill>
                  <a:srgbClr val="18334F"/>
                </a:solidFill>
                <a:latin typeface="Aptos"/>
              </a:defRPr>
            </a:pPr>
            <a:r>
              <a:t>• Expand monitoring in regions with low observation coverage.</a:t>
            </a:r>
          </a:p>
          <a:p>
            <a:pPr>
              <a:spcAft>
                <a:spcPts val="500"/>
              </a:spcAft>
              <a:defRPr sz="1300">
                <a:solidFill>
                  <a:srgbClr val="18334F"/>
                </a:solidFill>
                <a:latin typeface="Aptos"/>
              </a:defRPr>
            </a:pPr>
            <a:r>
              <a:t>• Compare concentration only within matched units and sampling contexts.</a:t>
            </a:r>
          </a:p>
          <a:p>
            <a:pPr>
              <a:spcAft>
                <a:spcPts val="500"/>
              </a:spcAft>
              <a:defRPr sz="1300">
                <a:solidFill>
                  <a:srgbClr val="18334F"/>
                </a:solidFill>
                <a:latin typeface="Aptos"/>
              </a:defRPr>
            </a:pPr>
            <a:r>
              <a:t>• Publish sample size, method and uncertainty beside each summary.</a:t>
            </a:r>
          </a:p>
          <a:p>
            <a:pPr>
              <a:spcAft>
                <a:spcPts val="500"/>
              </a:spcAft>
              <a:defRPr sz="1300">
                <a:solidFill>
                  <a:srgbClr val="18334F"/>
                </a:solidFill>
                <a:latin typeface="Aptos"/>
              </a:defRPr>
            </a:pPr>
            <a:endParaRPr/>
          </a:p>
          <a:p>
            <a:pPr>
              <a:spcAft>
                <a:spcPts val="500"/>
              </a:spcAft>
              <a:defRPr sz="1300">
                <a:solidFill>
                  <a:srgbClr val="18334F"/>
                </a:solidFill>
                <a:latin typeface="Aptos"/>
              </a:defRPr>
            </a:pPr>
            <a:r>
              <a:t>LIMITATIONS</a:t>
            </a:r>
          </a:p>
          <a:p>
            <a:pPr>
              <a:spcAft>
                <a:spcPts val="500"/>
              </a:spcAft>
              <a:defRPr sz="1300">
                <a:solidFill>
                  <a:srgbClr val="18334F"/>
                </a:solidFill>
                <a:latin typeface="Aptos"/>
              </a:defRPr>
            </a:pPr>
            <a:r>
              <a:t>Uneven coverage, missing metadata, inconsistent protocols and observational—not causal—evidence.</a:t>
            </a:r>
          </a:p>
          <a:p>
            <a:pPr>
              <a:spcAft>
                <a:spcPts val="500"/>
              </a:spcAft>
              <a:defRPr sz="1300">
                <a:solidFill>
                  <a:srgbClr val="18334F"/>
                </a:solidFill>
                <a:latin typeface="Aptos"/>
              </a:defRPr>
            </a:pPr>
            <a:endParaRPr/>
          </a:p>
          <a:p>
            <a:pPr>
              <a:spcAft>
                <a:spcPts val="500"/>
              </a:spcAft>
              <a:defRPr sz="1300">
                <a:solidFill>
                  <a:srgbClr val="18334F"/>
                </a:solidFill>
                <a:latin typeface="Aptos"/>
              </a:defRPr>
            </a:pPr>
            <a:r>
              <a:t>CONCLUSION</a:t>
            </a:r>
          </a:p>
          <a:p>
            <a:pPr>
              <a:spcAft>
                <a:spcPts val="500"/>
              </a:spcAft>
              <a:defRPr sz="1300">
                <a:solidFill>
                  <a:srgbClr val="18334F"/>
                </a:solidFill>
                <a:latin typeface="Aptos"/>
              </a:defRPr>
            </a:pPr>
            <a:r>
              <a:t>Responsible visualization makes both the observed patterns and the data gaps visible.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254496"/>
            <a:ext cx="9966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GLOBAL MARINE MICROPLASTICS  ·  CSE355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25449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46271"/>
                </a:solidFill>
                <a:latin typeface="Times New Roman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Dashboard Demonstration and Viva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43000"/>
            <a:ext cx="960120" cy="50292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417320"/>
            <a:ext cx="10881360" cy="4526280"/>
          </a:xfrm>
          <a:prstGeom prst="roundRect">
            <a:avLst/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444752"/>
            <a:ext cx="10469880" cy="4526280"/>
          </a:xfrm>
          <a:prstGeom prst="rect">
            <a:avLst/>
          </a:prstGeom>
          <a:noFill/>
        </p:spPr>
        <p:txBody>
          <a:bodyPr wrap="square" lIns="73152" tIns="54864" rIns="73152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18334F"/>
                </a:solidFill>
                <a:latin typeface="Aptos"/>
              </a:defRPr>
            </a:pPr>
            <a:r>
              <a:t>LIVE DEMONSTRATION</a:t>
            </a:r>
          </a:p>
          <a:p>
            <a:pPr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18334F"/>
                </a:solidFill>
                <a:latin typeface="Aptos"/>
              </a:defRPr>
            </a:pPr>
            <a:r>
              <a:t>1. Open the dashboard and select an ocean.</a:t>
            </a:r>
          </a:p>
          <a:p>
            <a:pPr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18334F"/>
                </a:solidFill>
                <a:latin typeface="Aptos"/>
              </a:defRPr>
            </a:pPr>
            <a:r>
              <a:t>2. Change the year range or marine setting.</a:t>
            </a:r>
          </a:p>
          <a:p>
            <a:pPr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18334F"/>
                </a:solidFill>
                <a:latin typeface="Aptos"/>
              </a:defRPr>
            </a:pPr>
            <a:r>
              <a:t>3. Explain why record counts are not pollution intensity.</a:t>
            </a:r>
          </a:p>
          <a:p>
            <a:pPr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18334F"/>
                </a:solidFill>
                <a:latin typeface="Aptos"/>
              </a:defRPr>
            </a:pPr>
            <a:r>
              <a:t>4. Show unit-specific concentration comparisons.</a:t>
            </a:r>
          </a:p>
          <a:p>
            <a:pPr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18334F"/>
                </a:solidFill>
                <a:latin typeface="Aptos"/>
              </a:defRPr>
            </a:pPr>
            <a:r>
              <a:t>5. Compare misleading and ethical charts.</a:t>
            </a:r>
          </a:p>
          <a:p>
            <a:pPr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18334F"/>
                </a:solidFill>
                <a:latin typeface="Aptos"/>
              </a:defRPr>
            </a:pPr>
            <a:r>
              <a:t>6. State one limitation and one practical recommendation.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254496"/>
            <a:ext cx="9966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GLOBAL MARINE MICROPLASTICS  ·  CSE355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25449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46271"/>
                </a:solidFill>
                <a:latin typeface="Times New Roman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1023</Words>
  <Application>Microsoft Office PowerPoint</Application>
  <PresentationFormat>Widescreen</PresentationFormat>
  <Paragraphs>185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kankatala ganeshgiridhar</cp:lastModifiedBy>
  <cp:revision>2</cp:revision>
  <dcterms:created xsi:type="dcterms:W3CDTF">2013-01-27T09:14:16Z</dcterms:created>
  <dcterms:modified xsi:type="dcterms:W3CDTF">2026-10-19T09:12:41Z</dcterms:modified>
  <cp:category/>
</cp:coreProperties>
</file>